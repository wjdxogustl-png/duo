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autoCompressPictures="0">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id="{30926665-BAD2-2534-6F55-1DCACF0646DA}" name="표지">
          <p14:sldIdLst>
            <p14:sldId id="256"/>
          </p14:sldIdLst>
        </p14:section>
        <p14:section id="{24CDFE6E-A7FA-B841-4B88-9B46809F219E}" name="문제·해결">
          <p14:sldIdLst>
            <p14:sldId id="257"/>
            <p14:sldId id="258"/>
          </p14:sldIdLst>
        </p14:section>
        <p14:section id="{A9FE3E5E-9F3B-CA0B-783D-F1E850562160}" name="Agent 구조">
          <p14:sldIdLst>
            <p14:sldId id="259"/>
            <p14:sldId id="260"/>
          </p14:sldIdLst>
        </p14:section>
        <p14:section id="{5403C894-75ED-A931-712F-E5A1EF95A349}" name="시연">
          <p14:sldIdLst>
            <p14:sldId id="261"/>
            <p14:sldId id="262"/>
          </p14:sldIdLst>
        </p14:section>
        <p14:section id="{30E5ADAB-569C-EF3C-601E-F1D7FDAD72F7}" name="성과·사업화">
          <p14:sldIdLst>
            <p14:sldId id="263"/>
            <p14:sldId id="264"/>
            <p14:sldId id="265"/>
          </p14:sldIdLst>
        </p14:section>
      </p14:sectionLst>
    </p:ext>
  </p:extLst>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prnPr scaleToFitPaper="1"/>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15611"/>
    <p:restoredTop sz="94610"/>
  </p:normalViewPr>
  <p:slideViewPr>
    <p:cSldViewPr snapToGrid="0" snapToObjects="1">
      <p:cViewPr varScale="1">
        <p:scale>
          <a:sx n="100" d="100"/>
          <a:sy n="100" d="100"/>
        </p:scale>
        <p:origin x="216" y="312"/>
      </p:cViewPr>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presProps" Target="presProps.xml"  /><Relationship Id="rId14" Type="http://schemas.openxmlformats.org/officeDocument/2006/relationships/viewProps" Target="viewProps.xml"  /><Relationship Id="rId15" Type="http://schemas.openxmlformats.org/officeDocument/2006/relationships/theme" Target="theme/theme1.xml"  /><Relationship Id="rId16"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idx="0"/>
          </p:nvPr>
        </p:nvSpPr>
        <p:spPr>
          <a:xfrm>
            <a:off x="0" y="0"/>
            <a:ext cx="2971800" cy="458788"/>
          </a:xfrm>
          <a:prstGeom prst="rect">
            <a:avLst/>
          </a:prstGeom>
        </p:spPr>
        <p:txBody>
          <a:bodyPr vert="horz" lIns="91440" tIns="45720" rIns="91440" bIns="45720" rtlCol="0"/>
          <a:lstStyle>
            <a:lvl1pPr algn="l">
              <a:defRPr sz="1200"/>
            </a:lvl1pPr>
          </a:lstStyle>
          <a:p>
            <a:pPr lvl="0"/>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lvl="0"/>
            <a:fld id="{5282F153-3F37-0F45-9E97-73ACFA13230C}" type="datetime1">
              <a:rPr lang="en-US"/>
              <a:t>7/23/19</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lvl="0"/>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lvl="0"/>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[인사, 10초] 안녕하세요, 창신대학교 팀 duo입니다. 저희는 경남 이주민이 자기 언어로 말하면 필요한 지원까지 이어 주는 AI 에이전트, "경남 정착 도우미"를 만들었습니다.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 30초] 경남에는 외국인주민이 16만 2천 명 넘게 삽니다. 전국 다섯 번째입니다. 지정주제 01 사회문제 해결형의 다문화·외국인근로자 문제에 해당합니다.
문제는 세 가지입니다. 첫째, 지원사업이 도·시·군·센터마다 따로, 대부분 한국어로 안내됩니다. 둘째, 이주민은 '사장님이 석 달째 다음 달에 준다고만 해요'처럼 어려움을 돌려 말해서 검색으로는 필요를 찾기 어렵습니다. 셋째, 체류 종료일처럼 중요한 시점을 먼저 알려 주는 곳이 없습니다.
대상은 경남 이주민과 가족, 그리고 이들을 돕는 센터 상담 실무자입니다.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[해결, 35초] 그래서 저희는 말만 하면 되는 에이전트를 만들었습니다. 이주민이 자기 언어로 상황을 말하면, 에이전트가 무엇이 필요한지 판단하고 로드맵, 지원사업, 상담 창구, 신청서 초안까지 이어 줍니다. 핵심기능은 이 다섯 가지입니다.
그리고 개발을 시작할 때 성공 지표를 먼저 정했습니다. 돌려 말한 표현 정답률은 키워드 방식 59%보다 높은 99%, 지원사업은 목표 20건보다 많은 26건, 신청서 반영은 자동 테스트로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 35초] 구조의 핵심은 "판단은 AI, 계산은 코드"입니다. Claude는 사용자의 말을 이해하고, 어떤 도구를 쓸지 정하고, 결과를 설명합니다. 점수, 로드맵, 날짜, 신청서 채우기처럼 틀리면 안 되는 일은 코드 도구 9개가 합니다. 그래서 AI가 숫자나 전화번호를 지어내지 않습니다.
심사기준의 Agent 다섯 요소도 모두 동작합니다. 정보를 저장하고 빠진 것만 되묻고, 처리 순서를 스스로 정하고, 위급하면 창구를 먼저 내미는 판단을 하고, MCP로 도구 9개를 직접 호출하고, 사용자 상태를 기억해 바뀌면 다시 계산합니다.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 25초] 에이전트는 결과를 확인하고 고칩니다. 예를 들어 "일자리를 잃었어요"라고 하면, 코드가 자동으로 안정도를 다시 채점하고, 로드맵에 취업 지원을 넣고, 출처가 있는 취업 사업만 다시 찾습니다. 점수가 65에서 10으로 떨어지면 멘토·상담을 먼저 권합니다. Claude는 무엇이 바뀌었는지 설명만 합니다.
안전 규칙도 세 가지입니다. 모르면 묻고, 출처 있는 번호만 보여 주고, 방금 고른 창구는 다시 권하지 않습니다. 모두 자동 테스트로 검증했습니다.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2분 30초] 이제 실제 동작을 보여 드리겠습니다. (영상 재생)
- 사용자가 베트남어로 상황을 말하면 에이전트가 정보를 저장하고 빠진 것만 되묻습니다.
- 안정도를 진단하고, 기준보다 낮으면 멘토·상담을 먼저 권합니다.
- 맞춤 로드맵을 만들고 단계마다 지원사업을 출처와 함께 보여 줍니다.
- 신청하고 싶다고 하면 신청서 초안을 만들고, 화면에서 고쳐 Word로 받습니다.
- 다시 접속하면 에이전트가 D-day와 남은 단계를 먼저 알려 줍니다.
오른쪽 작업 기록에서 도구 호출 과정을 함께 봐 주세요.
(재생 버튼 자리에 시연 영상을 삽입하세요: 삽입 &gt; 비디오)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[안전, 25초] 급한 상황도 구분합니다. 앞에서 보신 '사장님이 석 달째 다음 달에 준다고만 해요'는 임금체불로 판단해 고용노동부 1350, 폭력이면 112와 1366을 지원사업보다 먼저 보여 줍니다. 카드를 누르면 준비할 것과 전화로 할 말을 알려 줍니다.
데이터·안전·윤리도 지킵니다. 지원사업과 창구는 모두 출처와 확인일을 기록했습니다. 외국인등록번호, 여권, 계좌번호는 저장 전에 자동으로 지우고, 연락처는 채팅으로 묻지 않습니다. 모르는 칸은 지어내지 않고, 법률이나 체류 판단은 하지 않으며, 제출은 본인이 직접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[성과, 35초] 이주민이 돌려 말하는 문장 100개로 시험했습니다. 다섯 유형 중 네 가지는 전부 맞혔고, 함정 문장 1개를 틀려 99개를 통과했습니다. 같은 문장에서 단어만 찾는 키워드 방식은 59개였습니다. 이것이 저희의 차별점입니다.
기능 쪽으로는 자동 테스트 89건이 실패 없이 통과했고, 에이전트 평균 응답은 11초, 오류는 0건이었습니다. 경남 지원사업 26건과 공식 상담 창구 8곳을 출처와 함께 연결해 바로 쓸 수 있습니다.
다만 이 100문장은 프롬프트를 고칠 때 본 문장이라 높게 나왔을 수 있습니다. 그래서 처음 보는 999문항 세트를 따로 만들어 다시 검증할 계획입니다.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[비즈니스 모델, 25초] 이 서비스는 공공성이 커서 사용자에게 돈을 받기 어렵습니다. 그래서 사용자는 무료로 쓰고, 비용은 기관이 내는 구조입니다. 지자체나 센터가 공공 서비스로 위탁 운영하고, 근로자가 잘 정착하면 이직이 줄어드는 사업장도 비용을 낼 수 있습니다. 처음에는 공모나 정부 지원사업으로 시작합니다. 드는 비용은 AI 사용료, 서버, 지원사업 정보 갱신입니다.
실행은 센터 한 곳 파일럿으로 시작해 실사용자 피드백을 받고, 클라우드로 올려 경남 18개 시군으로 넓힌 뒤, 데이터만 바꿔 귀농·귀촌이나 다른 지역으로 확장하겠습니다.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 20초] 아직 한계도 있습니다. 지원사업은 경남 6개 지역 26건이고, 지금은 PC에서 실행하는 MVP입니다. 응답은 한 턴 20초로 목표 10초보다 깁니다. 평가 100문장은 프롬프트를 고칠 때 본 문장입니다.
앞으로 경남 18개 시군 전체로 넓히고, 이미 구현한 Claude API 모드로 클라우드에 올리겠습니다. 응답 시간은 도구를 동시에 부르고 진행 과정을 바로 보여 줘서 줄이고, 처음 보는 999문항과 실제 이주민 사용자로 다시 검증하겠습니다. 감사합니다.
[질의응답 대비]
- 키워드 비교가 공정한가? → 같은 100문장·같은 채점 기준. 프롬프트 개선에 쓴 문장이라 holdout 999문항을 별도 제작.
- 왜 Claude Code(MCP) 모드인가? → 대회 기간 API 비용 없이 실제 도구 호출을 검증. 운영용 anthropic 모드(Claude API + LangChain)는 이미 구현.
- 안정도 채점 기준은? → 한국어 25 · 주변 도움 20 · 직장 어려움 없음 20 · 지원사업 인지 15 · 거주기간 20, 50점 미만이면 멘토·상담 우선.
- 개인정보 저장 위치는? → 사용자별 JSON(로컬), '처음부터'로 삭제. 고유식별정보는 저장 전 삭제.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5E6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chemeClr val="accent5"/>
                </a:solidFill>
              </a:rPr>
              <a:t>duo · 경남 정착 도우미</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Relationship Id="rId1" Type="http://schemas.openxmlformats.org/officeDocument/2006/relationships/notesSlide" Target="../notesSlides/notesSlide4.xml"  /><Relationship Id="rId2" Type="http://schemas.openxmlformats.org/officeDocument/2006/relationships/slideLayout" Target="../slideLayouts/slideLayout3.xml"  /><Relationship Id="rId3" Type="http://schemas.openxmlformats.org/officeDocument/2006/relationships/image" Target="../media/image1.png"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Relationship Id="rId1" Type="http://schemas.openxmlformats.org/officeDocument/2006/relationships/notesSlide" Target="../notesSlides/notesSlide6.xml"  /><Relationship Id="rId2" Type="http://schemas.openxmlformats.org/officeDocument/2006/relationships/slideLayout" Target="../slideLayouts/slideLayout3.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Relationship Id="rId1" Type="http://schemas.openxmlformats.org/officeDocument/2006/relationships/notesSlide" Target="../notesSlides/notesSlide9.xml"  /><Relationship Id="rId2" Type="http://schemas.openxmlformats.org/officeDocument/2006/relationships/slideLayout" Target="../slideLayouts/slideLayout3.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097280"/>
          </a:xfrm>
          <a:prstGeom prst="rect">
            <a:avLst/>
          </a:prstGeom>
          <a:noFill/>
          <a:ln/>
        </p:spPr>
        <p:txBody>
          <a:bodyPr wrap="square" lIns="0" tIns="0" rIns="0" bIns="0" rtlCol="0" anchor="ctr"/>
          <a:lstStyle/>
          <a:p>
            <a:pPr algn="l" indent="0" marL="0">
              <a:buNone/>
            </a:pPr>
            <a:r>
              <a:rPr lang="en-US" sz="4800" b="1" dirty="0">
                <a:solidFill>
                  <a:schemeClr val="bg1"/>
                </a:solidFill>
              </a:rPr>
              <a:t>경남 정착 도우미</a:t>
            </a:r>
            <a:endParaRPr lang="en-US" sz="4800" dirty="0"/>
          </a:p>
        </p:txBody>
      </p:sp>
      <p:sp>
        <p:nvSpPr>
          <p:cNvPr id="3" name="Text 1"/>
          <p:cNvSpPr txBox="1"/>
          <p:nvPr/>
        </p:nvSpPr>
        <p:spPr>
          <a:xfrm>
            <a:off x="731520" y="3063240"/>
            <a:ext cx="10698480" cy="548640"/>
          </a:xfrm>
          <a:prstGeom prst="rect">
            <a:avLst/>
          </a:prstGeom>
          <a:noFill/>
          <a:ln/>
        </p:spPr>
        <p:txBody>
          <a:bodyPr wrap="square" lIns="0" tIns="0" rIns="0" bIns="0" rtlCol="0" anchor="t"/>
          <a:lstStyle/>
          <a:p>
            <a:pPr indent="0" marL="0">
              <a:buNone/>
            </a:pPr>
            <a:r>
              <a:rPr lang="en-US" sz="2200" dirty="0">
                <a:solidFill>
                  <a:schemeClr val="accent6"/>
                </a:solidFill>
              </a:rPr>
              <a:t>경남 이주민 능동 케어 에이전트 — 말하면 판단하고, 다음 행동까지 이어 준다</a:t>
            </a:r>
            <a:endParaRPr lang="en-US" sz="2200" dirty="0"/>
          </a:p>
        </p:txBody>
      </p:sp>
      <p:sp>
        <p:nvSpPr>
          <p:cNvPr id="4" name="lang-pill"/>
          <p:cNvSpPr/>
          <p:nvPr/>
        </p:nvSpPr>
        <p:spPr>
          <a:xfrm>
            <a:off x="731520" y="3977640"/>
            <a:ext cx="1645920" cy="502920"/>
          </a:xfrm>
          <a:prstGeom prst="roundRect">
            <a:avLst>
              <a:gd name="adj" fmla="val 49091"/>
            </a:avLst>
          </a:prstGeom>
          <a:solidFill>
            <a:schemeClr val="accent2"/>
          </a:solidFill>
          <a:ln w="12700">
            <a:solidFill>
              <a:schemeClr val="accent2"/>
            </a:solidFill>
            <a:prstDash val="solid"/>
          </a:ln>
        </p:spPr>
      </p:sp>
      <p:sp>
        <p:nvSpPr>
          <p:cNvPr id="5" name="Text 3"/>
          <p:cNvSpPr txBox="1"/>
          <p:nvPr/>
        </p:nvSpPr>
        <p:spPr>
          <a:xfrm>
            <a:off x="731520" y="3977640"/>
            <a:ext cx="1645920" cy="502920"/>
          </a:xfrm>
          <a:prstGeom prst="rect">
            <a:avLst/>
          </a:prstGeom>
          <a:noFill/>
          <a:ln/>
        </p:spPr>
        <p:txBody>
          <a:bodyPr wrap="square" lIns="0" tIns="0" rIns="0" bIns="0" rtlCol="0" anchor="ctr"/>
          <a:lstStyle/>
          <a:p>
            <a:pPr algn="ctr" indent="0" marL="0">
              <a:buNone/>
            </a:pPr>
            <a:r>
              <a:rPr lang="en-US" sz="1500" b="1" dirty="0">
                <a:solidFill>
                  <a:schemeClr val="bg1"/>
                </a:solidFill>
              </a:rPr>
              <a:t>안녕하세요</a:t>
            </a:r>
            <a:endParaRPr lang="en-US" sz="1500" dirty="0"/>
          </a:p>
        </p:txBody>
      </p:sp>
      <p:sp>
        <p:nvSpPr>
          <p:cNvPr id="6" name="lang-pill"/>
          <p:cNvSpPr/>
          <p:nvPr/>
        </p:nvSpPr>
        <p:spPr>
          <a:xfrm>
            <a:off x="2514600" y="3977640"/>
            <a:ext cx="1645920" cy="502920"/>
          </a:xfrm>
          <a:prstGeom prst="roundRect">
            <a:avLst>
              <a:gd name="adj" fmla="val 49091"/>
            </a:avLst>
          </a:prstGeom>
          <a:solidFill>
            <a:schemeClr val="accent3"/>
          </a:solidFill>
          <a:ln w="12700">
            <a:solidFill>
              <a:schemeClr val="accent3"/>
            </a:solidFill>
            <a:prstDash val="solid"/>
          </a:ln>
        </p:spPr>
      </p:sp>
      <p:sp>
        <p:nvSpPr>
          <p:cNvPr id="7" name="Text 5"/>
          <p:cNvSpPr txBox="1"/>
          <p:nvPr/>
        </p:nvSpPr>
        <p:spPr>
          <a:xfrm>
            <a:off x="2514600" y="3977640"/>
            <a:ext cx="1645920" cy="502920"/>
          </a:xfrm>
          <a:prstGeom prst="rect">
            <a:avLst/>
          </a:prstGeom>
          <a:noFill/>
          <a:ln/>
        </p:spPr>
        <p:txBody>
          <a:bodyPr wrap="square" lIns="0" tIns="0" rIns="0" bIns="0" rtlCol="0" anchor="ctr"/>
          <a:lstStyle/>
          <a:p>
            <a:pPr algn="ctr" indent="0" marL="0">
              <a:buNone/>
            </a:pPr>
            <a:r>
              <a:rPr lang="en-US" sz="1500" b="1" dirty="0">
                <a:solidFill>
                  <a:schemeClr val="bg1"/>
                </a:solidFill>
              </a:rPr>
              <a:t>Xin chào</a:t>
            </a:r>
            <a:endParaRPr lang="en-US" sz="1500" dirty="0"/>
          </a:p>
        </p:txBody>
      </p:sp>
      <p:sp>
        <p:nvSpPr>
          <p:cNvPr id="8" name="lang-pill"/>
          <p:cNvSpPr/>
          <p:nvPr/>
        </p:nvSpPr>
        <p:spPr>
          <a:xfrm>
            <a:off x="4297680" y="3977640"/>
            <a:ext cx="1645920" cy="502920"/>
          </a:xfrm>
          <a:prstGeom prst="roundRect">
            <a:avLst>
              <a:gd name="adj" fmla="val 49091"/>
            </a:avLst>
          </a:prstGeom>
          <a:solidFill>
            <a:schemeClr val="accent3"/>
          </a:solidFill>
          <a:ln w="12700">
            <a:solidFill>
              <a:schemeClr val="accent3"/>
            </a:solidFill>
            <a:prstDash val="solid"/>
          </a:ln>
        </p:spPr>
      </p:sp>
      <p:sp>
        <p:nvSpPr>
          <p:cNvPr id="9" name="Text 7"/>
          <p:cNvSpPr txBox="1"/>
          <p:nvPr/>
        </p:nvSpPr>
        <p:spPr>
          <a:xfrm>
            <a:off x="4297680" y="3977640"/>
            <a:ext cx="1645920" cy="502920"/>
          </a:xfrm>
          <a:prstGeom prst="rect">
            <a:avLst/>
          </a:prstGeom>
          <a:noFill/>
          <a:ln/>
        </p:spPr>
        <p:txBody>
          <a:bodyPr wrap="square" lIns="0" tIns="0" rIns="0" bIns="0" rtlCol="0" anchor="ctr"/>
          <a:lstStyle/>
          <a:p>
            <a:pPr algn="ctr" indent="0" marL="0">
              <a:buNone/>
            </a:pPr>
            <a:r>
              <a:rPr lang="en-US" sz="1500" b="1" dirty="0">
                <a:solidFill>
                  <a:schemeClr val="bg1"/>
                </a:solidFill>
              </a:rPr>
              <a:t>Hello</a:t>
            </a:r>
            <a:endParaRPr lang="en-US" sz="1500" dirty="0"/>
          </a:p>
        </p:txBody>
      </p:sp>
      <p:sp>
        <p:nvSpPr>
          <p:cNvPr id="10" name="lang-pill"/>
          <p:cNvSpPr/>
          <p:nvPr/>
        </p:nvSpPr>
        <p:spPr>
          <a:xfrm>
            <a:off x="6080760" y="3977640"/>
            <a:ext cx="1645920" cy="502920"/>
          </a:xfrm>
          <a:prstGeom prst="roundRect">
            <a:avLst>
              <a:gd name="adj" fmla="val 49091"/>
            </a:avLst>
          </a:prstGeom>
          <a:solidFill>
            <a:schemeClr val="accent3"/>
          </a:solidFill>
          <a:ln w="12700">
            <a:solidFill>
              <a:schemeClr val="accent3"/>
            </a:solidFill>
            <a:prstDash val="solid"/>
          </a:ln>
        </p:spPr>
      </p:sp>
      <p:sp>
        <p:nvSpPr>
          <p:cNvPr id="11" name="Text 9"/>
          <p:cNvSpPr txBox="1"/>
          <p:nvPr/>
        </p:nvSpPr>
        <p:spPr>
          <a:xfrm>
            <a:off x="6080760" y="3977640"/>
            <a:ext cx="1645920" cy="502920"/>
          </a:xfrm>
          <a:prstGeom prst="rect">
            <a:avLst/>
          </a:prstGeom>
          <a:noFill/>
          <a:ln/>
        </p:spPr>
        <p:txBody>
          <a:bodyPr wrap="square" lIns="0" tIns="0" rIns="0" bIns="0" rtlCol="0" anchor="ctr"/>
          <a:lstStyle/>
          <a:p>
            <a:pPr algn="ctr" indent="0" marL="0">
              <a:buNone/>
            </a:pPr>
            <a:r>
              <a:rPr lang="en-US" sz="1500" b="1" dirty="0">
                <a:solidFill>
                  <a:schemeClr val="bg1"/>
                </a:solidFill>
              </a:rPr>
              <a:t>你好</a:t>
            </a:r>
            <a:endParaRPr lang="en-US" sz="1500" dirty="0"/>
          </a:p>
        </p:txBody>
      </p:sp>
      <p:sp>
        <p:nvSpPr>
          <p:cNvPr id="12" name="lang-pill"/>
          <p:cNvSpPr/>
          <p:nvPr/>
        </p:nvSpPr>
        <p:spPr>
          <a:xfrm>
            <a:off x="7863840" y="3977640"/>
            <a:ext cx="1645920" cy="502920"/>
          </a:xfrm>
          <a:prstGeom prst="roundRect">
            <a:avLst>
              <a:gd name="adj" fmla="val 49091"/>
            </a:avLst>
          </a:prstGeom>
          <a:solidFill>
            <a:schemeClr val="accent3"/>
          </a:solidFill>
          <a:ln w="12700">
            <a:solidFill>
              <a:schemeClr val="accent3"/>
            </a:solidFill>
            <a:prstDash val="solid"/>
          </a:ln>
        </p:spPr>
      </p:sp>
      <p:sp>
        <p:nvSpPr>
          <p:cNvPr id="13" name="Text 11"/>
          <p:cNvSpPr txBox="1"/>
          <p:nvPr/>
        </p:nvSpPr>
        <p:spPr>
          <a:xfrm>
            <a:off x="7863840" y="3977640"/>
            <a:ext cx="1645920" cy="502920"/>
          </a:xfrm>
          <a:prstGeom prst="rect">
            <a:avLst/>
          </a:prstGeom>
          <a:noFill/>
          <a:ln/>
        </p:spPr>
        <p:txBody>
          <a:bodyPr wrap="square" lIns="0" tIns="0" rIns="0" bIns="0" rtlCol="0" anchor="ctr"/>
          <a:lstStyle/>
          <a:p>
            <a:pPr algn="ctr" indent="0" marL="0">
              <a:buNone/>
            </a:pPr>
            <a:r>
              <a:rPr lang="en-US" sz="1500" b="1" dirty="0">
                <a:solidFill>
                  <a:schemeClr val="bg1"/>
                </a:solidFill>
              </a:rPr>
              <a:t>こんにちは</a:t>
            </a:r>
            <a:endParaRPr lang="en-US" sz="1500" dirty="0"/>
          </a:p>
        </p:txBody>
      </p:sp>
      <p:sp>
        <p:nvSpPr>
          <p:cNvPr id="14" name="Text 12"/>
          <p:cNvSpPr txBox="1"/>
          <p:nvPr/>
        </p:nvSpPr>
        <p:spPr>
          <a:xfrm>
            <a:off x="731520" y="5120640"/>
            <a:ext cx="10698480" cy="822960"/>
          </a:xfrm>
          <a:prstGeom prst="rect">
            <a:avLst/>
          </a:prstGeom>
          <a:noFill/>
          <a:ln/>
        </p:spPr>
        <p:txBody>
          <a:bodyPr wrap="square" lIns="0" tIns="0" rIns="0" bIns="0" rtlCol="0" anchor="t"/>
          <a:lstStyle/>
          <a:p>
            <a:pPr indent="0" marL="0">
              <a:lnSpc>
                <a:spcPct val="130000"/>
              </a:lnSpc>
              <a:buNone/>
            </a:pPr>
            <a:r>
              <a:rPr lang="en-US" sz="1600" dirty="0">
                <a:solidFill>
                  <a:schemeClr val="bg1"/>
                </a:solidFill>
              </a:rPr>
              <a:t>제4회 경남AI·SW경진대회 본선 · 대학부 · 지정주제 01 사회문제 해결형 AI Agent</a:t>
            </a:r>
            <a:endParaRPr lang="en-US" sz="1600" dirty="0"/>
          </a:p>
          <a:p>
            <a:pPr indent="0" marL="0">
              <a:lnSpc>
                <a:spcPct val="130000"/>
              </a:lnSpc>
              <a:buNone/>
            </a:pPr>
            <a:r>
              <a:rPr lang="en-US" sz="1600" dirty="0">
                <a:solidFill>
                  <a:schemeClr val="bg1"/>
                </a:solidFill>
              </a:rPr>
              <a:t>팀 duo (창신대학교) · 정태현(팀장) · 조환성   |   github.com/wjdxogustl-png/duo</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경남 이주민 16만 명, 도움은 있는데 닿지 않는다</a:t>
            </a:r>
            <a:endParaRPr lang="en-US" sz="3000" dirty="0"/>
          </a:p>
        </p:txBody>
      </p:sp>
      <p:sp>
        <p:nvSpPr>
          <p:cNvPr id="3" name="stat-card"/>
          <p:cNvSpPr/>
          <p:nvPr/>
        </p:nvSpPr>
        <p:spPr>
          <a:xfrm>
            <a:off x="548640" y="1371600"/>
            <a:ext cx="4206240" cy="4663440"/>
          </a:xfrm>
          <a:prstGeom prst="roundRect">
            <a:avLst>
              <a:gd name="adj" fmla="val 1739"/>
            </a:avLst>
          </a:prstGeom>
          <a:solidFill>
            <a:schemeClr val="tx2"/>
          </a:solidFill>
          <a:ln w="9525">
            <a:solidFill>
              <a:schemeClr val="tx2"/>
            </a:solidFill>
            <a:prstDash val="solid"/>
          </a:ln>
        </p:spPr>
      </p:sp>
      <p:sp>
        <p:nvSpPr>
          <p:cNvPr id="4" name="Text 2"/>
          <p:cNvSpPr txBox="1"/>
          <p:nvPr/>
        </p:nvSpPr>
        <p:spPr>
          <a:xfrm>
            <a:off x="822960" y="1783080"/>
            <a:ext cx="3657600" cy="1005840"/>
          </a:xfrm>
          <a:prstGeom prst="rect">
            <a:avLst/>
          </a:prstGeom>
          <a:noFill/>
          <a:ln/>
        </p:spPr>
        <p:txBody>
          <a:bodyPr wrap="square" lIns="0" tIns="0" rIns="0" bIns="0" rtlCol="0" anchor="ctr"/>
          <a:lstStyle/>
          <a:p>
            <a:pPr indent="0" marL="0">
              <a:buNone/>
            </a:pPr>
            <a:r>
              <a:rPr lang="en-US" sz="4800" b="1" dirty="0">
                <a:solidFill>
                  <a:schemeClr val="bg1"/>
                </a:solidFill>
              </a:rPr>
              <a:t>162,714명</a:t>
            </a:r>
            <a:endParaRPr lang="en-US" sz="4800" dirty="0"/>
          </a:p>
        </p:txBody>
      </p:sp>
      <p:sp>
        <p:nvSpPr>
          <p:cNvPr id="5" name="Text 3"/>
          <p:cNvSpPr txBox="1"/>
          <p:nvPr/>
        </p:nvSpPr>
        <p:spPr>
          <a:xfrm>
            <a:off x="822960" y="2834640"/>
            <a:ext cx="3657600" cy="777240"/>
          </a:xfrm>
          <a:prstGeom prst="rect">
            <a:avLst/>
          </a:prstGeom>
          <a:noFill/>
          <a:ln/>
        </p:spPr>
        <p:txBody>
          <a:bodyPr wrap="square" lIns="0" tIns="0" rIns="0" bIns="0" rtlCol="0" anchor="t"/>
          <a:lstStyle/>
          <a:p>
            <a:pPr indent="0" marL="0">
              <a:buNone/>
            </a:pPr>
            <a:r>
              <a:rPr lang="en-US" sz="2000" dirty="0">
                <a:solidFill>
                  <a:schemeClr val="accent6"/>
                </a:solidFill>
              </a:rPr>
              <a:t>경남 외국인주민</a:t>
            </a:r>
            <a:endParaRPr lang="en-US" sz="2000" dirty="0"/>
          </a:p>
          <a:p>
            <a:pPr indent="0" marL="0">
              <a:buNone/>
            </a:pPr>
            <a:r>
              <a:rPr lang="en-US" sz="2000" dirty="0">
                <a:solidFill>
                  <a:schemeClr val="accent6"/>
                </a:solidFill>
              </a:rPr>
              <a:t>전국 시·도 5위</a:t>
            </a:r>
            <a:endParaRPr lang="en-US" sz="2000" dirty="0"/>
          </a:p>
        </p:txBody>
      </p:sp>
      <p:sp>
        <p:nvSpPr>
          <p:cNvPr id="6" name="Text 4"/>
          <p:cNvSpPr txBox="1"/>
          <p:nvPr/>
        </p:nvSpPr>
        <p:spPr>
          <a:xfrm>
            <a:off x="822960" y="3886200"/>
            <a:ext cx="3657600" cy="731520"/>
          </a:xfrm>
          <a:prstGeom prst="rect">
            <a:avLst/>
          </a:prstGeom>
          <a:noFill/>
          <a:ln/>
        </p:spPr>
        <p:txBody>
          <a:bodyPr wrap="square" lIns="0" tIns="0" rIns="0" bIns="0" rtlCol="0" anchor="t"/>
          <a:lstStyle/>
          <a:p>
            <a:pPr indent="0" marL="0">
              <a:lnSpc>
                <a:spcPct val="115000"/>
              </a:lnSpc>
              <a:buNone/>
            </a:pPr>
            <a:r>
              <a:rPr lang="en-US" sz="1400" b="1" dirty="0">
                <a:solidFill>
                  <a:schemeClr val="bg1"/>
                </a:solidFill>
              </a:rPr>
              <a:t>지정주제 01 사회문제 해결형</a:t>
            </a:r>
            <a:endParaRPr lang="en-US" sz="1400" dirty="0"/>
          </a:p>
          <a:p>
            <a:pPr indent="0" marL="0">
              <a:lnSpc>
                <a:spcPct val="115000"/>
              </a:lnSpc>
              <a:buNone/>
            </a:pPr>
            <a:r>
              <a:rPr lang="en-US" sz="1400" b="1" dirty="0">
                <a:solidFill>
                  <a:schemeClr val="bg1"/>
                </a:solidFill>
              </a:rPr>
              <a:t>다문화 · 외국인근로자 · 지역생활 문제</a:t>
            </a:r>
            <a:endParaRPr lang="en-US" sz="1400" dirty="0"/>
          </a:p>
        </p:txBody>
      </p:sp>
      <p:sp>
        <p:nvSpPr>
          <p:cNvPr id="7" name="Text 5"/>
          <p:cNvSpPr txBox="1"/>
          <p:nvPr/>
        </p:nvSpPr>
        <p:spPr>
          <a:xfrm>
            <a:off x="822960" y="5349240"/>
            <a:ext cx="3749040" cy="457200"/>
          </a:xfrm>
          <a:prstGeom prst="rect">
            <a:avLst/>
          </a:prstGeom>
          <a:noFill/>
          <a:ln/>
        </p:spPr>
        <p:txBody>
          <a:bodyPr wrap="square" lIns="0" tIns="0" rIns="0" bIns="0" rtlCol="0" anchor="t"/>
          <a:lstStyle/>
          <a:p>
            <a:pPr indent="0" marL="0">
              <a:buNone/>
            </a:pPr>
            <a:r>
              <a:rPr lang="en-US" sz="1100" dirty="0">
                <a:solidFill>
                  <a:schemeClr val="accent6"/>
                </a:solidFill>
              </a:rPr>
              <a:t>행정안전부 「2024 지방자치단체 외국인주민 현황」</a:t>
            </a:r>
            <a:endParaRPr lang="en-US" sz="1100" dirty="0"/>
          </a:p>
        </p:txBody>
      </p:sp>
      <p:sp>
        <p:nvSpPr>
          <p:cNvPr id="8" name="problem"/>
          <p:cNvSpPr/>
          <p:nvPr/>
        </p:nvSpPr>
        <p:spPr>
          <a:xfrm>
            <a:off x="5120640" y="1371600"/>
            <a:ext cx="6492240" cy="978408"/>
          </a:xfrm>
          <a:prstGeom prst="roundRect">
            <a:avLst>
              <a:gd name="adj" fmla="val 7477"/>
            </a:avLst>
          </a:prstGeom>
          <a:solidFill>
            <a:schemeClr val="bg2"/>
          </a:solidFill>
          <a:ln w="9525">
            <a:solidFill>
              <a:schemeClr val="bg2"/>
            </a:solidFill>
            <a:prstDash val="solid"/>
          </a:ln>
        </p:spPr>
      </p:sp>
      <p:sp>
        <p:nvSpPr>
          <p:cNvPr id="9" name="Shape 7"/>
          <p:cNvSpPr/>
          <p:nvPr/>
        </p:nvSpPr>
        <p:spPr>
          <a:xfrm>
            <a:off x="5321808" y="1563624"/>
            <a:ext cx="594360" cy="594360"/>
          </a:xfrm>
          <a:prstGeom prst="ellipse">
            <a:avLst/>
          </a:prstGeom>
          <a:solidFill>
            <a:schemeClr val="accent1"/>
          </a:solidFill>
          <a:ln w="12700">
            <a:solidFill>
              <a:schemeClr val="accent1"/>
            </a:solidFill>
            <a:prstDash val="solid"/>
          </a:ln>
        </p:spPr>
      </p:sp>
      <p:sp>
        <p:nvSpPr>
          <p:cNvPr id="10" name="Text 8"/>
          <p:cNvSpPr txBox="1"/>
          <p:nvPr/>
        </p:nvSpPr>
        <p:spPr>
          <a:xfrm>
            <a:off x="5321808" y="1563624"/>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1" name="Text 9"/>
          <p:cNvSpPr txBox="1"/>
          <p:nvPr/>
        </p:nvSpPr>
        <p:spPr>
          <a:xfrm>
            <a:off x="6126480" y="1463040"/>
            <a:ext cx="5349240" cy="384048"/>
          </a:xfrm>
          <a:prstGeom prst="rect">
            <a:avLst/>
          </a:prstGeom>
          <a:noFill/>
          <a:ln/>
        </p:spPr>
        <p:txBody>
          <a:bodyPr wrap="square" lIns="0" tIns="0" rIns="0" bIns="0" rtlCol="0" anchor="t"/>
          <a:lstStyle/>
          <a:p>
            <a:pPr indent="0" marL="0">
              <a:buNone/>
            </a:pPr>
            <a:r>
              <a:rPr lang="en-US" sz="1800" b="1" dirty="0">
                <a:solidFill>
                  <a:schemeClr val="tx1"/>
                </a:solidFill>
              </a:rPr>
              <a:t>정보가 흩어져 있다</a:t>
            </a:r>
            <a:endParaRPr lang="en-US" sz="1800" dirty="0"/>
          </a:p>
        </p:txBody>
      </p:sp>
      <p:sp>
        <p:nvSpPr>
          <p:cNvPr id="12" name="Text 10"/>
          <p:cNvSpPr txBox="1"/>
          <p:nvPr/>
        </p:nvSpPr>
        <p:spPr>
          <a:xfrm>
            <a:off x="6126480" y="1847088"/>
            <a:ext cx="5349240" cy="457200"/>
          </a:xfrm>
          <a:prstGeom prst="rect">
            <a:avLst/>
          </a:prstGeom>
          <a:noFill/>
          <a:ln/>
        </p:spPr>
        <p:txBody>
          <a:bodyPr wrap="square" lIns="0" tIns="0" rIns="0" bIns="0" rtlCol="0" anchor="t"/>
          <a:lstStyle/>
          <a:p>
            <a:pPr indent="0" marL="0">
              <a:buNone/>
            </a:pPr>
            <a:r>
              <a:rPr lang="en-US" sz="1300" dirty="0">
                <a:solidFill>
                  <a:schemeClr val="accent5"/>
                </a:solidFill>
              </a:rPr>
              <a:t>지원사업이 도·시·군·센터마다 따로, 대부분 한국어로 안내된다</a:t>
            </a:r>
            <a:endParaRPr lang="en-US" sz="1300" dirty="0"/>
          </a:p>
        </p:txBody>
      </p:sp>
      <p:sp>
        <p:nvSpPr>
          <p:cNvPr id="13" name="problem"/>
          <p:cNvSpPr/>
          <p:nvPr/>
        </p:nvSpPr>
        <p:spPr>
          <a:xfrm>
            <a:off x="5120640" y="2487168"/>
            <a:ext cx="6492240" cy="978408"/>
          </a:xfrm>
          <a:prstGeom prst="roundRect">
            <a:avLst>
              <a:gd name="adj" fmla="val 7477"/>
            </a:avLst>
          </a:prstGeom>
          <a:solidFill>
            <a:schemeClr val="bg2"/>
          </a:solidFill>
          <a:ln w="9525">
            <a:solidFill>
              <a:schemeClr val="bg2"/>
            </a:solidFill>
            <a:prstDash val="solid"/>
          </a:ln>
        </p:spPr>
      </p:sp>
      <p:sp>
        <p:nvSpPr>
          <p:cNvPr id="14" name="Shape 12"/>
          <p:cNvSpPr/>
          <p:nvPr/>
        </p:nvSpPr>
        <p:spPr>
          <a:xfrm>
            <a:off x="5321808" y="2679192"/>
            <a:ext cx="594360" cy="594360"/>
          </a:xfrm>
          <a:prstGeom prst="ellipse">
            <a:avLst/>
          </a:prstGeom>
          <a:solidFill>
            <a:schemeClr val="accent1"/>
          </a:solidFill>
          <a:ln w="12700">
            <a:solidFill>
              <a:schemeClr val="accent1"/>
            </a:solidFill>
            <a:prstDash val="solid"/>
          </a:ln>
        </p:spPr>
      </p:sp>
      <p:sp>
        <p:nvSpPr>
          <p:cNvPr id="15" name="Text 13"/>
          <p:cNvSpPr txBox="1"/>
          <p:nvPr/>
        </p:nvSpPr>
        <p:spPr>
          <a:xfrm>
            <a:off x="5321808" y="2679192"/>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6" name="Text 14"/>
          <p:cNvSpPr txBox="1"/>
          <p:nvPr/>
        </p:nvSpPr>
        <p:spPr>
          <a:xfrm>
            <a:off x="6126480" y="2578608"/>
            <a:ext cx="5349240" cy="384048"/>
          </a:xfrm>
          <a:prstGeom prst="rect">
            <a:avLst/>
          </a:prstGeom>
          <a:noFill/>
          <a:ln/>
        </p:spPr>
        <p:txBody>
          <a:bodyPr wrap="square" lIns="0" tIns="0" rIns="0" bIns="0" rtlCol="0" anchor="t"/>
          <a:lstStyle/>
          <a:p>
            <a:pPr indent="0" marL="0">
              <a:buNone/>
            </a:pPr>
            <a:r>
              <a:rPr lang="en-US" sz="1800" b="1" dirty="0">
                <a:solidFill>
                  <a:schemeClr val="tx1"/>
                </a:solidFill>
              </a:rPr>
              <a:t>돌려 말하면 찾지 못한다</a:t>
            </a:r>
            <a:endParaRPr lang="en-US" sz="1800" dirty="0"/>
          </a:p>
        </p:txBody>
      </p:sp>
      <p:sp>
        <p:nvSpPr>
          <p:cNvPr id="17" name="Text 15"/>
          <p:cNvSpPr txBox="1"/>
          <p:nvPr/>
        </p:nvSpPr>
        <p:spPr>
          <a:xfrm>
            <a:off x="6126480" y="2962656"/>
            <a:ext cx="5349240" cy="457200"/>
          </a:xfrm>
          <a:prstGeom prst="rect">
            <a:avLst/>
          </a:prstGeom>
          <a:noFill/>
          <a:ln/>
        </p:spPr>
        <p:txBody>
          <a:bodyPr wrap="square" lIns="0" tIns="0" rIns="0" bIns="0" rtlCol="0" anchor="t"/>
          <a:lstStyle/>
          <a:p>
            <a:pPr indent="0" marL="0">
              <a:buNone/>
            </a:pPr>
            <a:r>
              <a:rPr lang="en-US" sz="1300" dirty="0">
                <a:solidFill>
                  <a:schemeClr val="accent5"/>
                </a:solidFill>
              </a:rPr>
              <a:t>"사장님이 석 달째 다음 달에 준다고만 해요" — 월급·체불이라는 말이 없어 검색으로는 안 잡힌다</a:t>
            </a:r>
            <a:endParaRPr lang="en-US" sz="1300" dirty="0"/>
          </a:p>
        </p:txBody>
      </p:sp>
      <p:sp>
        <p:nvSpPr>
          <p:cNvPr id="18" name="problem"/>
          <p:cNvSpPr/>
          <p:nvPr/>
        </p:nvSpPr>
        <p:spPr>
          <a:xfrm>
            <a:off x="5120640" y="3602736"/>
            <a:ext cx="6492240" cy="978408"/>
          </a:xfrm>
          <a:prstGeom prst="roundRect">
            <a:avLst>
              <a:gd name="adj" fmla="val 7477"/>
            </a:avLst>
          </a:prstGeom>
          <a:solidFill>
            <a:schemeClr val="bg2"/>
          </a:solidFill>
          <a:ln w="9525">
            <a:solidFill>
              <a:schemeClr val="bg2"/>
            </a:solidFill>
            <a:prstDash val="solid"/>
          </a:ln>
        </p:spPr>
      </p:sp>
      <p:sp>
        <p:nvSpPr>
          <p:cNvPr id="19" name="Shape 17"/>
          <p:cNvSpPr/>
          <p:nvPr/>
        </p:nvSpPr>
        <p:spPr>
          <a:xfrm>
            <a:off x="5321808" y="3794760"/>
            <a:ext cx="594360" cy="594360"/>
          </a:xfrm>
          <a:prstGeom prst="ellipse">
            <a:avLst/>
          </a:prstGeom>
          <a:solidFill>
            <a:schemeClr val="accent1"/>
          </a:solidFill>
          <a:ln w="12700">
            <a:solidFill>
              <a:schemeClr val="accent1"/>
            </a:solidFill>
            <a:prstDash val="solid"/>
          </a:ln>
        </p:spPr>
      </p:sp>
      <p:sp>
        <p:nvSpPr>
          <p:cNvPr id="20" name="Text 18"/>
          <p:cNvSpPr txBox="1"/>
          <p:nvPr/>
        </p:nvSpPr>
        <p:spPr>
          <a:xfrm>
            <a:off x="5321808" y="379476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1" name="Text 19"/>
          <p:cNvSpPr txBox="1"/>
          <p:nvPr/>
        </p:nvSpPr>
        <p:spPr>
          <a:xfrm>
            <a:off x="6126480" y="3694176"/>
            <a:ext cx="5349240" cy="384048"/>
          </a:xfrm>
          <a:prstGeom prst="rect">
            <a:avLst/>
          </a:prstGeom>
          <a:noFill/>
          <a:ln/>
        </p:spPr>
        <p:txBody>
          <a:bodyPr wrap="square" lIns="0" tIns="0" rIns="0" bIns="0" rtlCol="0" anchor="t"/>
          <a:lstStyle/>
          <a:p>
            <a:pPr indent="0" marL="0">
              <a:buNone/>
            </a:pPr>
            <a:r>
              <a:rPr lang="en-US" sz="1800" b="1" dirty="0">
                <a:solidFill>
                  <a:schemeClr val="tx1"/>
                </a:solidFill>
              </a:rPr>
              <a:t>시점을 놓친다</a:t>
            </a:r>
            <a:endParaRPr lang="en-US" sz="1800" dirty="0"/>
          </a:p>
        </p:txBody>
      </p:sp>
      <p:sp>
        <p:nvSpPr>
          <p:cNvPr id="22" name="Text 20"/>
          <p:cNvSpPr txBox="1"/>
          <p:nvPr/>
        </p:nvSpPr>
        <p:spPr>
          <a:xfrm>
            <a:off x="6126480" y="4078224"/>
            <a:ext cx="5349240" cy="457200"/>
          </a:xfrm>
          <a:prstGeom prst="rect">
            <a:avLst/>
          </a:prstGeom>
          <a:noFill/>
          <a:ln/>
        </p:spPr>
        <p:txBody>
          <a:bodyPr wrap="square" lIns="0" tIns="0" rIns="0" bIns="0" rtlCol="0" anchor="t"/>
          <a:lstStyle/>
          <a:p>
            <a:pPr indent="0" marL="0">
              <a:buNone/>
            </a:pPr>
            <a:r>
              <a:rPr lang="en-US" sz="1300" dirty="0">
                <a:solidFill>
                  <a:schemeClr val="accent5"/>
                </a:solidFill>
              </a:rPr>
              <a:t>체류 종료일처럼 놓치면 불이익이 큰 일을 먼저 알려 주는 곳이 없다</a:t>
            </a:r>
            <a:endParaRPr lang="en-US" sz="1300" dirty="0"/>
          </a:p>
        </p:txBody>
      </p:sp>
      <p:sp>
        <p:nvSpPr>
          <p:cNvPr id="23" name="users"/>
          <p:cNvSpPr/>
          <p:nvPr/>
        </p:nvSpPr>
        <p:spPr>
          <a:xfrm>
            <a:off x="5120640" y="4800600"/>
            <a:ext cx="6492240" cy="1234440"/>
          </a:xfrm>
          <a:prstGeom prst="roundRect">
            <a:avLst>
              <a:gd name="adj" fmla="val 5926"/>
            </a:avLst>
          </a:prstGeom>
          <a:solidFill>
            <a:schemeClr val="bg1"/>
          </a:solidFill>
          <a:ln w="15875">
            <a:solidFill>
              <a:schemeClr val="accent1"/>
            </a:solidFill>
            <a:prstDash val="solid"/>
          </a:ln>
        </p:spPr>
      </p:sp>
      <p:sp>
        <p:nvSpPr>
          <p:cNvPr id="24" name="Text 22"/>
          <p:cNvSpPr txBox="1"/>
          <p:nvPr/>
        </p:nvSpPr>
        <p:spPr>
          <a:xfrm>
            <a:off x="5349240" y="4919472"/>
            <a:ext cx="2743200" cy="347472"/>
          </a:xfrm>
          <a:prstGeom prst="rect">
            <a:avLst/>
          </a:prstGeom>
          <a:noFill/>
          <a:ln/>
        </p:spPr>
        <p:txBody>
          <a:bodyPr wrap="square" lIns="0" tIns="0" rIns="0" bIns="0" rtlCol="0" anchor="t"/>
          <a:lstStyle/>
          <a:p>
            <a:pPr indent="0" marL="0">
              <a:buNone/>
            </a:pPr>
            <a:r>
              <a:rPr lang="en-US" sz="1500" b="1" dirty="0">
                <a:solidFill>
                  <a:schemeClr val="accent1"/>
                </a:solidFill>
              </a:rPr>
              <a:t>대상 사용자</a:t>
            </a:r>
            <a:endParaRPr lang="en-US" sz="1500" dirty="0"/>
          </a:p>
        </p:txBody>
      </p:sp>
      <p:sp>
        <p:nvSpPr>
          <p:cNvPr id="25" name="Text 23"/>
          <p:cNvSpPr txBox="1"/>
          <p:nvPr/>
        </p:nvSpPr>
        <p:spPr>
          <a:xfrm>
            <a:off x="5349240" y="5303520"/>
            <a:ext cx="6126480" cy="658368"/>
          </a:xfrm>
          <a:prstGeom prst="rect">
            <a:avLst/>
          </a:prstGeom>
          <a:noFill/>
          <a:ln/>
        </p:spPr>
        <p:txBody>
          <a:bodyPr wrap="square" lIns="0" tIns="0" rIns="0" bIns="0" rtlCol="0" anchor="t"/>
          <a:lstStyle/>
          <a:p>
            <a:pPr indent="0" marL="0">
              <a:lnSpc>
                <a:spcPct val="120000"/>
              </a:lnSpc>
              <a:buNone/>
            </a:pPr>
            <a:r>
              <a:rPr lang="en-US" sz="1300" b="1" dirty="0">
                <a:solidFill>
                  <a:schemeClr val="tx1"/>
                </a:solidFill>
              </a:rPr>
              <a:t>주 사용자  </a:t>
            </a:r>
            <a:pPr indent="0" marL="0">
              <a:lnSpc>
                <a:spcPct val="120000"/>
              </a:lnSpc>
              <a:buNone/>
            </a:pPr>
            <a:r>
              <a:rPr lang="en-US" sz="1300" dirty="0">
                <a:solidFill>
                  <a:schemeClr val="tx1"/>
                </a:solidFill>
              </a:rPr>
              <a:t>경남 거주 이주민 (외국인 근로자 · 결혼이민자 · 유학생)과 가족</a:t>
            </a:r>
            <a:endParaRPr lang="en-US" sz="1300" dirty="0"/>
          </a:p>
          <a:p>
            <a:pPr indent="0" marL="0">
              <a:lnSpc>
                <a:spcPct val="120000"/>
              </a:lnSpc>
              <a:buNone/>
            </a:pPr>
            <a:r>
              <a:rPr lang="en-US" sz="1300" b="1" dirty="0">
                <a:solidFill>
                  <a:schemeClr val="tx1"/>
                </a:solidFill>
              </a:rPr>
              <a:t>함께 쓰는 사람  </a:t>
            </a:r>
            <a:pPr indent="0" marL="0">
              <a:lnSpc>
                <a:spcPct val="120000"/>
              </a:lnSpc>
              <a:buNone/>
            </a:pPr>
            <a:r>
              <a:rPr lang="en-US" sz="1300" dirty="0">
                <a:solidFill>
                  <a:schemeClr val="tx1"/>
                </a:solidFill>
              </a:rPr>
              <a:t>외국인주민지원센터 · 가족센터 상담 실무자</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말하면 판단하고, 다음 행동까지 이어 준다</a:t>
            </a:r>
            <a:endParaRPr lang="en-US" sz="3000" dirty="0"/>
          </a:p>
        </p:txBody>
      </p:sp>
      <p:sp>
        <p:nvSpPr>
          <p:cNvPr id="3" name="goal-bar"/>
          <p:cNvSpPr/>
          <p:nvPr/>
        </p:nvSpPr>
        <p:spPr>
          <a:xfrm>
            <a:off x="548640" y="1280160"/>
            <a:ext cx="11064240" cy="640080"/>
          </a:xfrm>
          <a:prstGeom prst="roundRect">
            <a:avLst>
              <a:gd name="adj" fmla="val 11429"/>
            </a:avLst>
          </a:prstGeom>
          <a:solidFill>
            <a:schemeClr val="bg2"/>
          </a:solidFill>
          <a:ln w="9525">
            <a:solidFill>
              <a:schemeClr val="bg2"/>
            </a:solidFill>
            <a:prstDash val="solid"/>
          </a:ln>
        </p:spPr>
      </p:sp>
      <p:sp>
        <p:nvSpPr>
          <p:cNvPr id="4" name="Text 2"/>
          <p:cNvSpPr txBox="1"/>
          <p:nvPr/>
        </p:nvSpPr>
        <p:spPr>
          <a:xfrm>
            <a:off x="822960" y="1280160"/>
            <a:ext cx="10607040" cy="640080"/>
          </a:xfrm>
          <a:prstGeom prst="rect">
            <a:avLst/>
          </a:prstGeom>
          <a:noFill/>
          <a:ln/>
        </p:spPr>
        <p:txBody>
          <a:bodyPr wrap="square" lIns="0" tIns="0" rIns="0" bIns="0" rtlCol="0" anchor="ctr"/>
          <a:lstStyle/>
          <a:p>
            <a:pPr indent="0" marL="0">
              <a:buNone/>
            </a:pPr>
            <a:r>
              <a:rPr lang="en-US" sz="1500" b="1" dirty="0">
                <a:solidFill>
                  <a:srgbClr val="0E5E6F"/>
                </a:solidFill>
              </a:rPr>
              <a:t>목표  </a:t>
            </a:r>
            <a:pPr indent="0" marL="0">
              <a:buNone/>
            </a:pPr>
            <a:r>
              <a:rPr lang="en-US" sz="1500" dirty="0">
                <a:solidFill>
                  <a:schemeClr val="tx1"/>
                </a:solidFill>
              </a:rPr>
              <a:t>이주민이 자기 언어로 말하면 → 필요를 판단하고 → 로드맵 · 지원사업 · 상담 창구 · 신청서까지</a:t>
            </a:r>
            <a:endParaRPr lang="en-US" sz="1500" dirty="0"/>
          </a:p>
        </p:txBody>
      </p:sp>
      <p:sp>
        <p:nvSpPr>
          <p:cNvPr id="5" name="feature"/>
          <p:cNvSpPr/>
          <p:nvPr/>
        </p:nvSpPr>
        <p:spPr>
          <a:xfrm>
            <a:off x="548640" y="2103120"/>
            <a:ext cx="2075688" cy="1417320"/>
          </a:xfrm>
          <a:prstGeom prst="roundRect">
            <a:avLst>
              <a:gd name="adj" fmla="val 5161"/>
            </a:avLst>
          </a:prstGeom>
          <a:solidFill>
            <a:schemeClr val="bg2"/>
          </a:solidFill>
          <a:ln w="9525">
            <a:solidFill>
              <a:schemeClr val="bg2"/>
            </a:solidFill>
            <a:prstDash val="solid"/>
          </a:ln>
        </p:spPr>
      </p:sp>
      <p:sp>
        <p:nvSpPr>
          <p:cNvPr id="6" name="Shape 4"/>
          <p:cNvSpPr/>
          <p:nvPr/>
        </p:nvSpPr>
        <p:spPr>
          <a:xfrm>
            <a:off x="731520" y="2240280"/>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731520" y="22402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6"/>
          <p:cNvSpPr txBox="1"/>
          <p:nvPr/>
        </p:nvSpPr>
        <p:spPr>
          <a:xfrm>
            <a:off x="1298448" y="2240280"/>
            <a:ext cx="1280160" cy="457200"/>
          </a:xfrm>
          <a:prstGeom prst="rect">
            <a:avLst/>
          </a:prstGeom>
          <a:noFill/>
          <a:ln/>
        </p:spPr>
        <p:txBody>
          <a:bodyPr wrap="square" lIns="0" tIns="0" rIns="0" bIns="0" rtlCol="0" anchor="ctr"/>
          <a:lstStyle/>
          <a:p>
            <a:pPr indent="0" marL="0">
              <a:buNone/>
            </a:pPr>
            <a:r>
              <a:rPr lang="en-US" sz="1300" b="1" dirty="0">
                <a:solidFill>
                  <a:schemeClr val="tx1"/>
                </a:solidFill>
              </a:rPr>
              <a:t>다국어 대화</a:t>
            </a:r>
            <a:endParaRPr lang="en-US" sz="1300" dirty="0"/>
          </a:p>
        </p:txBody>
      </p:sp>
      <p:sp>
        <p:nvSpPr>
          <p:cNvPr id="9" name="Text 7"/>
          <p:cNvSpPr txBox="1"/>
          <p:nvPr/>
        </p:nvSpPr>
        <p:spPr>
          <a:xfrm>
            <a:off x="731520" y="2880360"/>
            <a:ext cx="1783080" cy="457200"/>
          </a:xfrm>
          <a:prstGeom prst="rect">
            <a:avLst/>
          </a:prstGeom>
          <a:noFill/>
          <a:ln/>
        </p:spPr>
        <p:txBody>
          <a:bodyPr wrap="square" lIns="0" tIns="0" rIns="0" bIns="0" rtlCol="0" anchor="ctr"/>
          <a:lstStyle/>
          <a:p>
            <a:pPr indent="0" marL="0">
              <a:buNone/>
            </a:pPr>
            <a:r>
              <a:rPr lang="en-US" sz="1300" dirty="0">
                <a:solidFill>
                  <a:schemeClr val="accent5"/>
                </a:solidFill>
              </a:rPr>
              <a:t>5개 언어</a:t>
            </a:r>
            <a:endParaRPr lang="en-US" sz="1300" dirty="0"/>
          </a:p>
        </p:txBody>
      </p:sp>
      <p:sp>
        <p:nvSpPr>
          <p:cNvPr id="10" name="feature"/>
          <p:cNvSpPr/>
          <p:nvPr/>
        </p:nvSpPr>
        <p:spPr>
          <a:xfrm>
            <a:off x="2807208" y="2103120"/>
            <a:ext cx="2075688" cy="1417320"/>
          </a:xfrm>
          <a:prstGeom prst="roundRect">
            <a:avLst>
              <a:gd name="adj" fmla="val 5161"/>
            </a:avLst>
          </a:prstGeom>
          <a:solidFill>
            <a:schemeClr val="bg2"/>
          </a:solidFill>
          <a:ln w="9525">
            <a:solidFill>
              <a:schemeClr val="bg2"/>
            </a:solidFill>
            <a:prstDash val="solid"/>
          </a:ln>
        </p:spPr>
      </p:sp>
      <p:sp>
        <p:nvSpPr>
          <p:cNvPr id="11" name="Shape 9"/>
          <p:cNvSpPr/>
          <p:nvPr/>
        </p:nvSpPr>
        <p:spPr>
          <a:xfrm>
            <a:off x="2990088" y="2240280"/>
            <a:ext cx="457200" cy="457200"/>
          </a:xfrm>
          <a:prstGeom prst="ellipse">
            <a:avLst/>
          </a:prstGeom>
          <a:solidFill>
            <a:schemeClr val="accent1"/>
          </a:solidFill>
          <a:ln w="12700">
            <a:solidFill>
              <a:schemeClr val="accent1"/>
            </a:solidFill>
            <a:prstDash val="solid"/>
          </a:ln>
        </p:spPr>
      </p:sp>
      <p:sp>
        <p:nvSpPr>
          <p:cNvPr id="12" name="Text 10"/>
          <p:cNvSpPr txBox="1"/>
          <p:nvPr/>
        </p:nvSpPr>
        <p:spPr>
          <a:xfrm>
            <a:off x="2990088" y="22402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 11"/>
          <p:cNvSpPr txBox="1"/>
          <p:nvPr/>
        </p:nvSpPr>
        <p:spPr>
          <a:xfrm>
            <a:off x="3557016" y="2240280"/>
            <a:ext cx="1280160" cy="457200"/>
          </a:xfrm>
          <a:prstGeom prst="rect">
            <a:avLst/>
          </a:prstGeom>
          <a:noFill/>
          <a:ln/>
        </p:spPr>
        <p:txBody>
          <a:bodyPr wrap="square" lIns="0" tIns="0" rIns="0" bIns="0" rtlCol="0" anchor="ctr"/>
          <a:lstStyle/>
          <a:p>
            <a:pPr indent="0" marL="0">
              <a:buNone/>
            </a:pPr>
            <a:r>
              <a:rPr lang="en-US" sz="1300" b="1" dirty="0">
                <a:solidFill>
                  <a:schemeClr val="tx1"/>
                </a:solidFill>
              </a:rPr>
              <a:t>안정도 진단 + 로드맵</a:t>
            </a:r>
            <a:endParaRPr lang="en-US" sz="1300" dirty="0"/>
          </a:p>
        </p:txBody>
      </p:sp>
      <p:sp>
        <p:nvSpPr>
          <p:cNvPr id="14" name="Text 12"/>
          <p:cNvSpPr txBox="1"/>
          <p:nvPr/>
        </p:nvSpPr>
        <p:spPr>
          <a:xfrm>
            <a:off x="2990088" y="2880360"/>
            <a:ext cx="1783080" cy="457200"/>
          </a:xfrm>
          <a:prstGeom prst="rect">
            <a:avLst/>
          </a:prstGeom>
          <a:noFill/>
          <a:ln/>
        </p:spPr>
        <p:txBody>
          <a:bodyPr wrap="square" lIns="0" tIns="0" rIns="0" bIns="0" rtlCol="0" anchor="ctr"/>
          <a:lstStyle/>
          <a:p>
            <a:pPr indent="0" marL="0">
              <a:buNone/>
            </a:pPr>
            <a:r>
              <a:rPr lang="en-US" sz="1300" dirty="0">
                <a:solidFill>
                  <a:schemeClr val="accent5"/>
                </a:solidFill>
              </a:rPr>
              <a:t>할 일을 순서대로</a:t>
            </a:r>
            <a:endParaRPr lang="en-US" sz="1300" dirty="0"/>
          </a:p>
        </p:txBody>
      </p:sp>
      <p:sp>
        <p:nvSpPr>
          <p:cNvPr id="15" name="feature"/>
          <p:cNvSpPr/>
          <p:nvPr/>
        </p:nvSpPr>
        <p:spPr>
          <a:xfrm>
            <a:off x="5065776" y="2103120"/>
            <a:ext cx="2075688" cy="1417320"/>
          </a:xfrm>
          <a:prstGeom prst="roundRect">
            <a:avLst>
              <a:gd name="adj" fmla="val 5161"/>
            </a:avLst>
          </a:prstGeom>
          <a:solidFill>
            <a:schemeClr val="bg2"/>
          </a:solidFill>
          <a:ln w="9525">
            <a:solidFill>
              <a:schemeClr val="bg2"/>
            </a:solidFill>
            <a:prstDash val="solid"/>
          </a:ln>
        </p:spPr>
      </p:sp>
      <p:sp>
        <p:nvSpPr>
          <p:cNvPr id="16" name="Shape 14"/>
          <p:cNvSpPr/>
          <p:nvPr/>
        </p:nvSpPr>
        <p:spPr>
          <a:xfrm>
            <a:off x="5248656" y="224028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5248656" y="22402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Text 16"/>
          <p:cNvSpPr txBox="1"/>
          <p:nvPr/>
        </p:nvSpPr>
        <p:spPr>
          <a:xfrm>
            <a:off x="5815584" y="2240280"/>
            <a:ext cx="1280160" cy="457200"/>
          </a:xfrm>
          <a:prstGeom prst="rect">
            <a:avLst/>
          </a:prstGeom>
          <a:noFill/>
          <a:ln/>
        </p:spPr>
        <p:txBody>
          <a:bodyPr wrap="square" lIns="0" tIns="0" rIns="0" bIns="0" rtlCol="0" anchor="ctr"/>
          <a:lstStyle/>
          <a:p>
            <a:pPr indent="0" marL="0">
              <a:buNone/>
            </a:pPr>
            <a:r>
              <a:rPr lang="en-US" sz="1300" b="1" dirty="0">
                <a:solidFill>
                  <a:schemeClr val="tx1"/>
                </a:solidFill>
              </a:rPr>
              <a:t>지원사업 · 상담 창구</a:t>
            </a:r>
            <a:endParaRPr lang="en-US" sz="1300" dirty="0"/>
          </a:p>
        </p:txBody>
      </p:sp>
      <p:sp>
        <p:nvSpPr>
          <p:cNvPr id="19" name="Text 17"/>
          <p:cNvSpPr txBox="1"/>
          <p:nvPr/>
        </p:nvSpPr>
        <p:spPr>
          <a:xfrm>
            <a:off x="5248656" y="2880360"/>
            <a:ext cx="1783080" cy="457200"/>
          </a:xfrm>
          <a:prstGeom prst="rect">
            <a:avLst/>
          </a:prstGeom>
          <a:noFill/>
          <a:ln/>
        </p:spPr>
        <p:txBody>
          <a:bodyPr wrap="square" lIns="0" tIns="0" rIns="0" bIns="0" rtlCol="0" anchor="ctr"/>
          <a:lstStyle/>
          <a:p>
            <a:pPr indent="0" marL="0">
              <a:buNone/>
            </a:pPr>
            <a:r>
              <a:rPr lang="en-US" sz="1300" dirty="0">
                <a:solidFill>
                  <a:schemeClr val="accent5"/>
                </a:solidFill>
              </a:rPr>
              <a:t>출처와 함께</a:t>
            </a:r>
            <a:endParaRPr lang="en-US" sz="1300" dirty="0"/>
          </a:p>
        </p:txBody>
      </p:sp>
      <p:sp>
        <p:nvSpPr>
          <p:cNvPr id="20" name="feature"/>
          <p:cNvSpPr/>
          <p:nvPr/>
        </p:nvSpPr>
        <p:spPr>
          <a:xfrm>
            <a:off x="7324344" y="2103120"/>
            <a:ext cx="2075688" cy="1417320"/>
          </a:xfrm>
          <a:prstGeom prst="roundRect">
            <a:avLst>
              <a:gd name="adj" fmla="val 5161"/>
            </a:avLst>
          </a:prstGeom>
          <a:solidFill>
            <a:schemeClr val="bg2"/>
          </a:solidFill>
          <a:ln w="9525">
            <a:solidFill>
              <a:schemeClr val="bg2"/>
            </a:solidFill>
            <a:prstDash val="solid"/>
          </a:ln>
        </p:spPr>
      </p:sp>
      <p:sp>
        <p:nvSpPr>
          <p:cNvPr id="21" name="Shape 19"/>
          <p:cNvSpPr/>
          <p:nvPr/>
        </p:nvSpPr>
        <p:spPr>
          <a:xfrm>
            <a:off x="7507224" y="2240280"/>
            <a:ext cx="457200" cy="457200"/>
          </a:xfrm>
          <a:prstGeom prst="ellipse">
            <a:avLst/>
          </a:prstGeom>
          <a:solidFill>
            <a:schemeClr val="accent1"/>
          </a:solidFill>
          <a:ln w="12700">
            <a:solidFill>
              <a:schemeClr val="accent1"/>
            </a:solidFill>
            <a:prstDash val="solid"/>
          </a:ln>
        </p:spPr>
      </p:sp>
      <p:sp>
        <p:nvSpPr>
          <p:cNvPr id="22" name="Text 20"/>
          <p:cNvSpPr txBox="1"/>
          <p:nvPr/>
        </p:nvSpPr>
        <p:spPr>
          <a:xfrm>
            <a:off x="7507224" y="22402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3" name="Text 21"/>
          <p:cNvSpPr txBox="1"/>
          <p:nvPr/>
        </p:nvSpPr>
        <p:spPr>
          <a:xfrm>
            <a:off x="8074152" y="2240280"/>
            <a:ext cx="1280160" cy="457200"/>
          </a:xfrm>
          <a:prstGeom prst="rect">
            <a:avLst/>
          </a:prstGeom>
          <a:noFill/>
          <a:ln/>
        </p:spPr>
        <p:txBody>
          <a:bodyPr wrap="square" lIns="0" tIns="0" rIns="0" bIns="0" rtlCol="0" anchor="ctr"/>
          <a:lstStyle/>
          <a:p>
            <a:pPr indent="0" marL="0">
              <a:buNone/>
            </a:pPr>
            <a:r>
              <a:rPr lang="en-US" sz="1300" b="1" dirty="0">
                <a:solidFill>
                  <a:schemeClr val="tx1"/>
                </a:solidFill>
              </a:rPr>
              <a:t>신청서 초안</a:t>
            </a:r>
            <a:endParaRPr lang="en-US" sz="1300" dirty="0"/>
          </a:p>
        </p:txBody>
      </p:sp>
      <p:sp>
        <p:nvSpPr>
          <p:cNvPr id="24" name="Text 22"/>
          <p:cNvSpPr txBox="1"/>
          <p:nvPr/>
        </p:nvSpPr>
        <p:spPr>
          <a:xfrm>
            <a:off x="7507224" y="2880360"/>
            <a:ext cx="1783080" cy="457200"/>
          </a:xfrm>
          <a:prstGeom prst="rect">
            <a:avLst/>
          </a:prstGeom>
          <a:noFill/>
          <a:ln/>
        </p:spPr>
        <p:txBody>
          <a:bodyPr wrap="square" lIns="0" tIns="0" rIns="0" bIns="0" rtlCol="0" anchor="ctr"/>
          <a:lstStyle/>
          <a:p>
            <a:pPr indent="0" marL="0">
              <a:buNone/>
            </a:pPr>
            <a:r>
              <a:rPr lang="en-US" sz="1300" dirty="0">
                <a:solidFill>
                  <a:schemeClr val="accent5"/>
                </a:solidFill>
              </a:rPr>
              <a:t>Word로 받기</a:t>
            </a:r>
            <a:endParaRPr lang="en-US" sz="1300" dirty="0"/>
          </a:p>
        </p:txBody>
      </p:sp>
      <p:sp>
        <p:nvSpPr>
          <p:cNvPr id="25" name="feature"/>
          <p:cNvSpPr/>
          <p:nvPr/>
        </p:nvSpPr>
        <p:spPr>
          <a:xfrm>
            <a:off x="9582912" y="2103120"/>
            <a:ext cx="2075688" cy="1417320"/>
          </a:xfrm>
          <a:prstGeom prst="roundRect">
            <a:avLst>
              <a:gd name="adj" fmla="val 5161"/>
            </a:avLst>
          </a:prstGeom>
          <a:solidFill>
            <a:schemeClr val="bg2"/>
          </a:solidFill>
          <a:ln w="9525">
            <a:solidFill>
              <a:schemeClr val="bg2"/>
            </a:solidFill>
            <a:prstDash val="solid"/>
          </a:ln>
        </p:spPr>
      </p:sp>
      <p:sp>
        <p:nvSpPr>
          <p:cNvPr id="26" name="Shape 24"/>
          <p:cNvSpPr/>
          <p:nvPr/>
        </p:nvSpPr>
        <p:spPr>
          <a:xfrm>
            <a:off x="9765792" y="2240280"/>
            <a:ext cx="457200" cy="457200"/>
          </a:xfrm>
          <a:prstGeom prst="ellipse">
            <a:avLst/>
          </a:prstGeom>
          <a:solidFill>
            <a:schemeClr val="accent1"/>
          </a:solidFill>
          <a:ln w="12700">
            <a:solidFill>
              <a:schemeClr val="accent1"/>
            </a:solidFill>
            <a:prstDash val="solid"/>
          </a:ln>
        </p:spPr>
      </p:sp>
      <p:sp>
        <p:nvSpPr>
          <p:cNvPr id="27" name="Text 25"/>
          <p:cNvSpPr txBox="1"/>
          <p:nvPr/>
        </p:nvSpPr>
        <p:spPr>
          <a:xfrm>
            <a:off x="9765792" y="22402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6"/>
          <p:cNvSpPr txBox="1"/>
          <p:nvPr/>
        </p:nvSpPr>
        <p:spPr>
          <a:xfrm>
            <a:off x="10332720" y="2240280"/>
            <a:ext cx="1280160" cy="457200"/>
          </a:xfrm>
          <a:prstGeom prst="rect">
            <a:avLst/>
          </a:prstGeom>
          <a:noFill/>
          <a:ln/>
        </p:spPr>
        <p:txBody>
          <a:bodyPr wrap="square" lIns="0" tIns="0" rIns="0" bIns="0" rtlCol="0" anchor="ctr"/>
          <a:lstStyle/>
          <a:p>
            <a:pPr indent="0" marL="0">
              <a:buNone/>
            </a:pPr>
            <a:r>
              <a:rPr lang="en-US" sz="1300" b="1" dirty="0">
                <a:solidFill>
                  <a:schemeClr val="tx1"/>
                </a:solidFill>
              </a:rPr>
              <a:t>능동 케어</a:t>
            </a:r>
            <a:endParaRPr lang="en-US" sz="1300" dirty="0"/>
          </a:p>
        </p:txBody>
      </p:sp>
      <p:sp>
        <p:nvSpPr>
          <p:cNvPr id="29" name="Text 27"/>
          <p:cNvSpPr txBox="1"/>
          <p:nvPr/>
        </p:nvSpPr>
        <p:spPr>
          <a:xfrm>
            <a:off x="9765792" y="2880360"/>
            <a:ext cx="1783080" cy="457200"/>
          </a:xfrm>
          <a:prstGeom prst="rect">
            <a:avLst/>
          </a:prstGeom>
          <a:noFill/>
          <a:ln/>
        </p:spPr>
        <p:txBody>
          <a:bodyPr wrap="square" lIns="0" tIns="0" rIns="0" bIns="0" rtlCol="0" anchor="ctr"/>
          <a:lstStyle/>
          <a:p>
            <a:pPr indent="0" marL="0">
              <a:buNone/>
            </a:pPr>
            <a:r>
              <a:rPr lang="en-US" sz="1300" dirty="0">
                <a:solidFill>
                  <a:schemeClr val="accent5"/>
                </a:solidFill>
              </a:rPr>
              <a:t>다시 오면 먼저 안내</a:t>
            </a:r>
            <a:endParaRPr lang="en-US" sz="1300" dirty="0"/>
          </a:p>
        </p:txBody>
      </p:sp>
      <p:sp>
        <p:nvSpPr>
          <p:cNvPr id="30" name="Text 28"/>
          <p:cNvSpPr txBox="1"/>
          <p:nvPr/>
        </p:nvSpPr>
        <p:spPr>
          <a:xfrm>
            <a:off x="548640" y="3703320"/>
            <a:ext cx="5486400" cy="365760"/>
          </a:xfrm>
          <a:prstGeom prst="rect">
            <a:avLst/>
          </a:prstGeom>
          <a:noFill/>
          <a:ln/>
        </p:spPr>
        <p:txBody>
          <a:bodyPr wrap="square" lIns="0" tIns="0" rIns="0" bIns="0" rtlCol="0" anchor="t"/>
          <a:lstStyle/>
          <a:p>
            <a:pPr indent="0" marL="0">
              <a:buNone/>
            </a:pPr>
            <a:r>
              <a:rPr lang="en-US" sz="1600" b="1" dirty="0">
                <a:solidFill>
                  <a:schemeClr val="tx1"/>
                </a:solidFill>
              </a:rPr>
              <a:t>처음부터 정해 둔 성공 지표</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11064240" cy="914400"/>
        </p:xfrm>
        <a:graphic>
          <a:graphicData uri="http://schemas.openxmlformats.org/drawingml/2006/table">
            <a:tbl>
              <a:tblPr/>
              <a:tblGrid>
                <a:gridCol w="3108960"/>
                <a:gridCol w="4480560"/>
                <a:gridCol w="3474720"/>
              </a:tblGrid>
              <a:tr h="475488">
                <a:tc>
                  <a:txBody>
                    <a:bodyPr/>
                    <a:lstStyle/>
                    <a:p>
                      <a:pPr indent="0" marL="0">
                        <a:buNone/>
                      </a:pPr>
                      <a:r>
                        <a:rPr lang="en-US" sz="1300" b="1" dirty="0">
                          <a:solidFill>
                            <a:srgbClr val="FFFFFF"/>
                          </a:solidFill>
                        </a:rPr>
                        <a:t>목표</a:t>
                      </a:r>
                      <a:endParaRPr lang="en-US" sz="1300" dirty="0"/>
                    </a:p>
                  </a:txBody>
                  <a:tcPr marL="109728" marR="109728"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0E5E6F"/>
                    </a:solidFill>
                  </a:tcPr>
                </a:tc>
                <a:tc>
                  <a:txBody>
                    <a:bodyPr/>
                    <a:lstStyle/>
                    <a:p>
                      <a:pPr indent="0" marL="0">
                        <a:buNone/>
                      </a:pPr>
                      <a:r>
                        <a:rPr lang="en-US" sz="1300" b="1" dirty="0">
                          <a:solidFill>
                            <a:srgbClr val="FFFFFF"/>
                          </a:solidFill>
                        </a:rPr>
                        <a:t>지표 (측정 방법)</a:t>
                      </a:r>
                      <a:endParaRPr lang="en-US" sz="1300" dirty="0"/>
                    </a:p>
                  </a:txBody>
                  <a:tcPr marL="109728" marR="109728"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0E5E6F"/>
                    </a:solidFill>
                  </a:tcPr>
                </a:tc>
                <a:tc>
                  <a:txBody>
                    <a:bodyPr/>
                    <a:lstStyle/>
                    <a:p>
                      <a:pPr indent="0" marL="0">
                        <a:buNone/>
                      </a:pPr>
                      <a:r>
                        <a:rPr lang="en-US" sz="1300" b="1" dirty="0">
                          <a:solidFill>
                            <a:srgbClr val="FFFFFF"/>
                          </a:solidFill>
                        </a:rPr>
                        <a:t>결과</a:t>
                      </a:r>
                      <a:endParaRPr lang="en-US" sz="1300" dirty="0"/>
                    </a:p>
                  </a:txBody>
                  <a:tcPr marL="109728" marR="109728"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0E5E6F"/>
                    </a:solidFill>
                  </a:tcPr>
                </a:tc>
              </a:tr>
              <a:tr h="475488">
                <a:tc>
                  <a:txBody>
                    <a:bodyPr/>
                    <a:lstStyle/>
                    <a:p>
                      <a:pPr indent="0" marL="0">
                        <a:buNone/>
                      </a:pPr>
                      <a:r>
                        <a:rPr lang="en-US" sz="1300" dirty="0">
                          <a:solidFill>
                            <a:srgbClr val="1B2B34"/>
                          </a:solidFill>
                        </a:rPr>
                        <a:t>돌려 말해도 필요를 찾는다</a:t>
                      </a:r>
                      <a:endParaRPr lang="en-US" sz="1300" dirty="0"/>
                    </a:p>
                  </a:txBody>
                  <a:tcPr marL="109728" marR="109728"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평가 문장 100개, 키워드 방식과 정답률 비교</a:t>
                      </a:r>
                      <a:endParaRPr lang="en-US" sz="1300" dirty="0"/>
                    </a:p>
                  </a:txBody>
                  <a:tcPr marL="109728" marR="109728"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indent="0" marL="0">
                        <a:buNone/>
                      </a:pPr>
                      <a:r>
                        <a:rPr lang="en-US" sz="1300" b="1" dirty="0">
                          <a:solidFill>
                            <a:srgbClr val="1B2B34"/>
                          </a:solidFill>
                        </a:rPr>
                        <a:t>59% → 99%</a:t>
                      </a:r>
                      <a:endParaRPr lang="en-US" sz="1300" dirty="0"/>
                    </a:p>
                  </a:txBody>
                  <a:tcPr marL="109728" marR="109728"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B34"/>
                          </a:solidFill>
                        </a:rPr>
                        <a:t>경남 실제 사업을 연결한다</a:t>
                      </a:r>
                      <a:endParaRPr lang="en-US" sz="1300" dirty="0"/>
                    </a:p>
                  </a:txBody>
                  <a:tcPr marL="109728" marR="109728"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출처·확인일 있는 지원사업 20건 이상</a:t>
                      </a:r>
                      <a:endParaRPr lang="en-US" sz="1300" dirty="0"/>
                    </a:p>
                  </a:txBody>
                  <a:tcPr marL="109728" marR="109728"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indent="0" marL="0">
                        <a:buNone/>
                      </a:pPr>
                      <a:r>
                        <a:rPr lang="en-US" sz="1300" b="1" dirty="0">
                          <a:solidFill>
                            <a:srgbClr val="1B2B34"/>
                          </a:solidFill>
                        </a:rPr>
                        <a:t>26건 + 공식 상담 창구 8곳</a:t>
                      </a:r>
                      <a:endParaRPr lang="en-US" sz="1300" dirty="0"/>
                    </a:p>
                  </a:txBody>
                  <a:tcPr marL="109728" marR="109728"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B34"/>
                          </a:solidFill>
                        </a:rPr>
                        <a:t>신청서에 정확히 반영한다</a:t>
                      </a:r>
                      <a:endParaRPr lang="en-US" sz="1300" dirty="0"/>
                    </a:p>
                  </a:txBody>
                  <a:tcPr marL="109728" marR="109728"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입력값 반영 정확도 100% (자동 테스트)</a:t>
                      </a:r>
                      <a:endParaRPr lang="en-US" sz="1300" dirty="0"/>
                    </a:p>
                  </a:txBody>
                  <a:tcPr marL="109728" marR="109728"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indent="0" marL="0">
                        <a:buNone/>
                      </a:pPr>
                      <a:r>
                        <a:rPr lang="en-US" sz="1300" b="1" dirty="0">
                          <a:solidFill>
                            <a:srgbClr val="1B2B34"/>
                          </a:solidFill>
                        </a:rPr>
                        <a:t>test_draft 통과 · 전체 89건 통과</a:t>
                      </a:r>
                      <a:endParaRPr lang="en-US" sz="1300" dirty="0"/>
                    </a:p>
                  </a:txBody>
                  <a:tcPr marL="109728" marR="109728"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판단은 AI, 계산은 코드</a:t>
            </a:r>
            <a:endParaRPr lang="en-US" sz="3000" dirty="0"/>
          </a:p>
        </p:txBody>
      </p:sp>
      <p:pic>
        <p:nvPicPr>
          <p:cNvPr id="3" name="architecture" descr="/root/work/arch.png">    </p:cNvPr>
          <p:cNvPicPr>
            <a:picLocks noChangeAspect="1"/>
          </p:cNvPicPr>
          <p:nvPr/>
        </p:nvPicPr>
        <p:blipFill>
          <a:blip r:embed="rId3"/>
          <a:stretch>
            <a:fillRect/>
          </a:stretch>
        </p:blipFill>
        <p:spPr>
          <a:xfrm>
            <a:off x="548640" y="1280160"/>
            <a:ext cx="6949440" cy="3059441"/>
          </a:xfrm>
          <a:prstGeom prst="rect">
            <a:avLst/>
          </a:prstGeom>
        </p:spPr>
      </p:pic>
      <p:sp>
        <p:nvSpPr>
          <p:cNvPr id="4" name="role"/>
          <p:cNvSpPr/>
          <p:nvPr/>
        </p:nvSpPr>
        <p:spPr>
          <a:xfrm>
            <a:off x="7863840" y="1280160"/>
            <a:ext cx="3749040" cy="914400"/>
          </a:xfrm>
          <a:prstGeom prst="roundRect">
            <a:avLst>
              <a:gd name="adj" fmla="val 8000"/>
            </a:avLst>
          </a:prstGeom>
          <a:solidFill>
            <a:schemeClr val="bg2"/>
          </a:solidFill>
          <a:ln w="9525">
            <a:solidFill>
              <a:schemeClr val="bg2"/>
            </a:solidFill>
            <a:prstDash val="solid"/>
          </a:ln>
        </p:spPr>
      </p:sp>
      <p:sp>
        <p:nvSpPr>
          <p:cNvPr id="5" name="Text 2"/>
          <p:cNvSpPr txBox="1"/>
          <p:nvPr/>
        </p:nvSpPr>
        <p:spPr>
          <a:xfrm>
            <a:off x="8092440" y="1371600"/>
            <a:ext cx="3383280" cy="347472"/>
          </a:xfrm>
          <a:prstGeom prst="rect">
            <a:avLst/>
          </a:prstGeom>
          <a:noFill/>
          <a:ln/>
        </p:spPr>
        <p:txBody>
          <a:bodyPr wrap="square" lIns="0" tIns="0" rIns="0" bIns="0" rtlCol="0" anchor="t"/>
          <a:lstStyle/>
          <a:p>
            <a:pPr indent="0" marL="0">
              <a:buNone/>
            </a:pPr>
            <a:r>
              <a:rPr lang="en-US" sz="1500" b="1" dirty="0">
                <a:solidFill>
                  <a:schemeClr val="accent1"/>
                </a:solidFill>
              </a:rPr>
              <a:t>Claude가 하는 일</a:t>
            </a:r>
            <a:endParaRPr lang="en-US" sz="1500" dirty="0"/>
          </a:p>
        </p:txBody>
      </p:sp>
      <p:sp>
        <p:nvSpPr>
          <p:cNvPr id="6" name="Text 3"/>
          <p:cNvSpPr txBox="1"/>
          <p:nvPr/>
        </p:nvSpPr>
        <p:spPr>
          <a:xfrm>
            <a:off x="8092440" y="1737360"/>
            <a:ext cx="3383280" cy="384048"/>
          </a:xfrm>
          <a:prstGeom prst="rect">
            <a:avLst/>
          </a:prstGeom>
          <a:noFill/>
          <a:ln/>
        </p:spPr>
        <p:txBody>
          <a:bodyPr wrap="square" lIns="0" tIns="0" rIns="0" bIns="0" rtlCol="0" anchor="t"/>
          <a:lstStyle/>
          <a:p>
            <a:pPr indent="0" marL="0">
              <a:buNone/>
            </a:pPr>
            <a:r>
              <a:rPr lang="en-US" sz="1300" dirty="0">
                <a:solidFill>
                  <a:schemeClr val="tx1"/>
                </a:solidFill>
              </a:rPr>
              <a:t>말 이해 · 필요 판단 · 도구 선택 · 설명</a:t>
            </a:r>
            <a:endParaRPr lang="en-US" sz="1300" dirty="0"/>
          </a:p>
        </p:txBody>
      </p:sp>
      <p:sp>
        <p:nvSpPr>
          <p:cNvPr id="7" name="role"/>
          <p:cNvSpPr/>
          <p:nvPr/>
        </p:nvSpPr>
        <p:spPr>
          <a:xfrm>
            <a:off x="7863840" y="2331720"/>
            <a:ext cx="3749040" cy="914400"/>
          </a:xfrm>
          <a:prstGeom prst="roundRect">
            <a:avLst>
              <a:gd name="adj" fmla="val 8000"/>
            </a:avLst>
          </a:prstGeom>
          <a:solidFill>
            <a:schemeClr val="bg2"/>
          </a:solidFill>
          <a:ln w="9525">
            <a:solidFill>
              <a:schemeClr val="bg2"/>
            </a:solidFill>
            <a:prstDash val="solid"/>
          </a:ln>
        </p:spPr>
      </p:sp>
      <p:sp>
        <p:nvSpPr>
          <p:cNvPr id="8" name="Text 5"/>
          <p:cNvSpPr txBox="1"/>
          <p:nvPr/>
        </p:nvSpPr>
        <p:spPr>
          <a:xfrm>
            <a:off x="8092440" y="2423160"/>
            <a:ext cx="3383280" cy="347472"/>
          </a:xfrm>
          <a:prstGeom prst="rect">
            <a:avLst/>
          </a:prstGeom>
          <a:noFill/>
          <a:ln/>
        </p:spPr>
        <p:txBody>
          <a:bodyPr wrap="square" lIns="0" tIns="0" rIns="0" bIns="0" rtlCol="0" anchor="t"/>
          <a:lstStyle/>
          <a:p>
            <a:pPr indent="0" marL="0">
              <a:buNone/>
            </a:pPr>
            <a:r>
              <a:rPr lang="en-US" sz="1500" b="1" dirty="0">
                <a:solidFill>
                  <a:schemeClr val="accent1"/>
                </a:solidFill>
              </a:rPr>
              <a:t>코드 도구 9개가 하는 일</a:t>
            </a:r>
            <a:endParaRPr lang="en-US" sz="1500" dirty="0"/>
          </a:p>
        </p:txBody>
      </p:sp>
      <p:sp>
        <p:nvSpPr>
          <p:cNvPr id="9" name="Text 6"/>
          <p:cNvSpPr txBox="1"/>
          <p:nvPr/>
        </p:nvSpPr>
        <p:spPr>
          <a:xfrm>
            <a:off x="8092440" y="2788920"/>
            <a:ext cx="3383280" cy="384048"/>
          </a:xfrm>
          <a:prstGeom prst="rect">
            <a:avLst/>
          </a:prstGeom>
          <a:noFill/>
          <a:ln/>
        </p:spPr>
        <p:txBody>
          <a:bodyPr wrap="square" lIns="0" tIns="0" rIns="0" bIns="0" rtlCol="0" anchor="t"/>
          <a:lstStyle/>
          <a:p>
            <a:pPr indent="0" marL="0">
              <a:buNone/>
            </a:pPr>
            <a:r>
              <a:rPr lang="en-US" sz="1300" dirty="0">
                <a:solidFill>
                  <a:schemeClr val="tx1"/>
                </a:solidFill>
              </a:rPr>
              <a:t>점수 · 로드맵 규칙 · 날짜 · 신청서 채우기</a:t>
            </a:r>
            <a:endParaRPr lang="en-US" sz="1300" dirty="0"/>
          </a:p>
        </p:txBody>
      </p:sp>
      <p:sp>
        <p:nvSpPr>
          <p:cNvPr id="10" name="role"/>
          <p:cNvSpPr/>
          <p:nvPr/>
        </p:nvSpPr>
        <p:spPr>
          <a:xfrm>
            <a:off x="7863840" y="3383280"/>
            <a:ext cx="3749040" cy="914400"/>
          </a:xfrm>
          <a:prstGeom prst="roundRect">
            <a:avLst>
              <a:gd name="adj" fmla="val 8000"/>
            </a:avLst>
          </a:prstGeom>
          <a:solidFill>
            <a:schemeClr val="tx2"/>
          </a:solidFill>
          <a:ln w="9525">
            <a:solidFill>
              <a:schemeClr val="tx2"/>
            </a:solidFill>
            <a:prstDash val="solid"/>
          </a:ln>
        </p:spPr>
      </p:sp>
      <p:sp>
        <p:nvSpPr>
          <p:cNvPr id="11" name="Text 8"/>
          <p:cNvSpPr txBox="1"/>
          <p:nvPr/>
        </p:nvSpPr>
        <p:spPr>
          <a:xfrm>
            <a:off x="8092440" y="3474720"/>
            <a:ext cx="3383280" cy="347472"/>
          </a:xfrm>
          <a:prstGeom prst="rect">
            <a:avLst/>
          </a:prstGeom>
          <a:noFill/>
          <a:ln/>
        </p:spPr>
        <p:txBody>
          <a:bodyPr wrap="square" lIns="0" tIns="0" rIns="0" bIns="0" rtlCol="0" anchor="t"/>
          <a:lstStyle/>
          <a:p>
            <a:pPr indent="0" marL="0">
              <a:buNone/>
            </a:pPr>
            <a:r>
              <a:rPr lang="en-US" sz="1500" b="1" dirty="0">
                <a:solidFill>
                  <a:schemeClr val="accent6"/>
                </a:solidFill>
              </a:rPr>
              <a:t>그래서</a:t>
            </a:r>
            <a:endParaRPr lang="en-US" sz="1500" dirty="0"/>
          </a:p>
        </p:txBody>
      </p:sp>
      <p:sp>
        <p:nvSpPr>
          <p:cNvPr id="12" name="Text 9"/>
          <p:cNvSpPr txBox="1"/>
          <p:nvPr/>
        </p:nvSpPr>
        <p:spPr>
          <a:xfrm>
            <a:off x="8092440" y="3840480"/>
            <a:ext cx="3383280" cy="384048"/>
          </a:xfrm>
          <a:prstGeom prst="rect">
            <a:avLst/>
          </a:prstGeom>
          <a:noFill/>
          <a:ln/>
        </p:spPr>
        <p:txBody>
          <a:bodyPr wrap="square" lIns="0" tIns="0" rIns="0" bIns="0" anchor="t"/>
          <a:lstStyle/>
          <a:p>
            <a:pPr marL="0" lvl="0" indent="0">
              <a:buNone/>
              <a:defRPr/>
            </a:pPr>
            <a:r>
              <a:rPr lang="en-US" sz="1300">
                <a:solidFill>
                  <a:schemeClr val="bg1"/>
                </a:solidFill>
              </a:rPr>
              <a:t>AI가 숫자나 연락처를 지어내지 않는다</a:t>
            </a:r>
            <a:endParaRPr lang="en-US" sz="1300"/>
          </a:p>
        </p:txBody>
      </p:sp>
      <p:sp>
        <p:nvSpPr>
          <p:cNvPr id="13" name="Text 10"/>
          <p:cNvSpPr txBox="1"/>
          <p:nvPr/>
        </p:nvSpPr>
        <p:spPr>
          <a:xfrm>
            <a:off x="548640" y="4526280"/>
            <a:ext cx="5486400" cy="347472"/>
          </a:xfrm>
          <a:prstGeom prst="rect">
            <a:avLst/>
          </a:prstGeom>
          <a:noFill/>
          <a:ln/>
        </p:spPr>
        <p:txBody>
          <a:bodyPr wrap="square" lIns="0" tIns="0" rIns="0" bIns="0" rtlCol="0" anchor="t"/>
          <a:lstStyle/>
          <a:p>
            <a:pPr indent="0" marL="0">
              <a:buNone/>
            </a:pPr>
            <a:r>
              <a:rPr lang="en-US" sz="1500" b="1" dirty="0">
                <a:solidFill>
                  <a:schemeClr val="tx1"/>
                </a:solidFill>
              </a:rPr>
              <a:t>Agent 5요소, 모두 실제 동작</a:t>
            </a:r>
            <a:endParaRPr lang="en-US" sz="1500" dirty="0"/>
          </a:p>
        </p:txBody>
      </p:sp>
      <p:sp>
        <p:nvSpPr>
          <p:cNvPr id="14" name="agent-element"/>
          <p:cNvSpPr/>
          <p:nvPr/>
        </p:nvSpPr>
        <p:spPr>
          <a:xfrm>
            <a:off x="548640" y="4919472"/>
            <a:ext cx="2103120" cy="1280160"/>
          </a:xfrm>
          <a:prstGeom prst="roundRect">
            <a:avLst>
              <a:gd name="adj" fmla="val 5714"/>
            </a:avLst>
          </a:prstGeom>
          <a:solidFill>
            <a:schemeClr val="bg2"/>
          </a:solidFill>
          <a:ln w="9525">
            <a:solidFill>
              <a:schemeClr val="bg2"/>
            </a:solidFill>
            <a:prstDash val="solid"/>
          </a:ln>
        </p:spPr>
      </p:sp>
      <p:sp>
        <p:nvSpPr>
          <p:cNvPr id="15" name="Text 12"/>
          <p:cNvSpPr txBox="1"/>
          <p:nvPr/>
        </p:nvSpPr>
        <p:spPr>
          <a:xfrm>
            <a:off x="685800" y="5010912"/>
            <a:ext cx="1828800" cy="320040"/>
          </a:xfrm>
          <a:prstGeom prst="rect">
            <a:avLst/>
          </a:prstGeom>
          <a:noFill/>
          <a:ln/>
        </p:spPr>
        <p:txBody>
          <a:bodyPr wrap="square" lIns="0" tIns="0" rIns="0" bIns="0" rtlCol="0" anchor="t"/>
          <a:lstStyle/>
          <a:p>
            <a:pPr indent="0" marL="0">
              <a:buNone/>
            </a:pPr>
            <a:r>
              <a:rPr lang="en-US" sz="1400" b="1" dirty="0">
                <a:solidFill>
                  <a:schemeClr val="accent1"/>
                </a:solidFill>
              </a:rPr>
              <a:t>목표이해</a:t>
            </a:r>
            <a:endParaRPr lang="en-US" sz="1400" dirty="0"/>
          </a:p>
        </p:txBody>
      </p:sp>
      <p:sp>
        <p:nvSpPr>
          <p:cNvPr id="16" name="Text 13"/>
          <p:cNvSpPr txBox="1"/>
          <p:nvPr/>
        </p:nvSpPr>
        <p:spPr>
          <a:xfrm>
            <a:off x="685800" y="5349240"/>
            <a:ext cx="1828800" cy="804672"/>
          </a:xfrm>
          <a:prstGeom prst="rect">
            <a:avLst/>
          </a:prstGeom>
          <a:noFill/>
          <a:ln/>
        </p:spPr>
        <p:txBody>
          <a:bodyPr wrap="square" lIns="0" tIns="0" rIns="0" bIns="0" rtlCol="0" anchor="t"/>
          <a:lstStyle/>
          <a:p>
            <a:pPr indent="0" marL="0">
              <a:buNone/>
            </a:pPr>
            <a:r>
              <a:rPr lang="en-US" sz="1150" dirty="0">
                <a:solidFill>
                  <a:schemeClr val="tx1"/>
                </a:solidFill>
              </a:rPr>
              <a:t>정보를 저장하고 빠진 것만 되묻기. 숨은 필요는 근거 문장과 함께 기억</a:t>
            </a:r>
            <a:endParaRPr lang="en-US" sz="1150" dirty="0"/>
          </a:p>
        </p:txBody>
      </p:sp>
      <p:sp>
        <p:nvSpPr>
          <p:cNvPr id="17" name="agent-element"/>
          <p:cNvSpPr/>
          <p:nvPr/>
        </p:nvSpPr>
        <p:spPr>
          <a:xfrm>
            <a:off x="2788920" y="4919472"/>
            <a:ext cx="2103120" cy="1280160"/>
          </a:xfrm>
          <a:prstGeom prst="roundRect">
            <a:avLst>
              <a:gd name="adj" fmla="val 5714"/>
            </a:avLst>
          </a:prstGeom>
          <a:solidFill>
            <a:schemeClr val="bg2"/>
          </a:solidFill>
          <a:ln w="9525">
            <a:solidFill>
              <a:schemeClr val="bg2"/>
            </a:solidFill>
            <a:prstDash val="solid"/>
          </a:ln>
        </p:spPr>
      </p:sp>
      <p:sp>
        <p:nvSpPr>
          <p:cNvPr id="18" name="Text 15"/>
          <p:cNvSpPr txBox="1"/>
          <p:nvPr/>
        </p:nvSpPr>
        <p:spPr>
          <a:xfrm>
            <a:off x="2926080" y="5010912"/>
            <a:ext cx="1828800" cy="320040"/>
          </a:xfrm>
          <a:prstGeom prst="rect">
            <a:avLst/>
          </a:prstGeom>
          <a:noFill/>
          <a:ln/>
        </p:spPr>
        <p:txBody>
          <a:bodyPr wrap="square" lIns="0" tIns="0" rIns="0" bIns="0" rtlCol="0" anchor="t"/>
          <a:lstStyle/>
          <a:p>
            <a:pPr indent="0" marL="0">
              <a:buNone/>
            </a:pPr>
            <a:r>
              <a:rPr lang="en-US" sz="1400" b="1" dirty="0">
                <a:solidFill>
                  <a:schemeClr val="accent1"/>
                </a:solidFill>
              </a:rPr>
              <a:t>계획·분해</a:t>
            </a:r>
            <a:endParaRPr lang="en-US" sz="1400" dirty="0"/>
          </a:p>
        </p:txBody>
      </p:sp>
      <p:sp>
        <p:nvSpPr>
          <p:cNvPr id="19" name="Text 16"/>
          <p:cNvSpPr txBox="1"/>
          <p:nvPr/>
        </p:nvSpPr>
        <p:spPr>
          <a:xfrm>
            <a:off x="2926080" y="5349240"/>
            <a:ext cx="1828800" cy="804672"/>
          </a:xfrm>
          <a:prstGeom prst="rect">
            <a:avLst/>
          </a:prstGeom>
          <a:noFill/>
          <a:ln/>
        </p:spPr>
        <p:txBody>
          <a:bodyPr wrap="square" lIns="0" tIns="0" rIns="0" bIns="0" rtlCol="0" anchor="t"/>
          <a:lstStyle/>
          <a:p>
            <a:pPr indent="0" marL="0">
              <a:buNone/>
            </a:pPr>
            <a:r>
              <a:rPr lang="en-US" sz="1150" dirty="0">
                <a:solidFill>
                  <a:schemeClr val="tx1"/>
                </a:solidFill>
              </a:rPr>
              <a:t>진단 → 로드맵 → 지원사업 → 신청서 순서를 스스로 결정</a:t>
            </a:r>
            <a:endParaRPr lang="en-US" sz="1150" dirty="0"/>
          </a:p>
        </p:txBody>
      </p:sp>
      <p:sp>
        <p:nvSpPr>
          <p:cNvPr id="20" name="agent-element"/>
          <p:cNvSpPr/>
          <p:nvPr/>
        </p:nvSpPr>
        <p:spPr>
          <a:xfrm>
            <a:off x="5029200" y="4919472"/>
            <a:ext cx="2103120" cy="1280160"/>
          </a:xfrm>
          <a:prstGeom prst="roundRect">
            <a:avLst>
              <a:gd name="adj" fmla="val 5714"/>
            </a:avLst>
          </a:prstGeom>
          <a:solidFill>
            <a:schemeClr val="bg2"/>
          </a:solidFill>
          <a:ln w="9525">
            <a:solidFill>
              <a:schemeClr val="bg2"/>
            </a:solidFill>
            <a:prstDash val="solid"/>
          </a:ln>
        </p:spPr>
      </p:sp>
      <p:sp>
        <p:nvSpPr>
          <p:cNvPr id="21" name="Text 18"/>
          <p:cNvSpPr txBox="1"/>
          <p:nvPr/>
        </p:nvSpPr>
        <p:spPr>
          <a:xfrm>
            <a:off x="5166360" y="5010912"/>
            <a:ext cx="1828800" cy="320040"/>
          </a:xfrm>
          <a:prstGeom prst="rect">
            <a:avLst/>
          </a:prstGeom>
          <a:noFill/>
          <a:ln/>
        </p:spPr>
        <p:txBody>
          <a:bodyPr wrap="square" lIns="0" tIns="0" rIns="0" bIns="0" rtlCol="0" anchor="t"/>
          <a:lstStyle/>
          <a:p>
            <a:pPr indent="0" marL="0">
              <a:buNone/>
            </a:pPr>
            <a:r>
              <a:rPr lang="en-US" sz="1400" b="1" dirty="0">
                <a:solidFill>
                  <a:schemeClr val="accent1"/>
                </a:solidFill>
              </a:rPr>
              <a:t>판단·추론</a:t>
            </a:r>
            <a:endParaRPr lang="en-US" sz="1400" dirty="0"/>
          </a:p>
        </p:txBody>
      </p:sp>
      <p:sp>
        <p:nvSpPr>
          <p:cNvPr id="22" name="Text 19"/>
          <p:cNvSpPr txBox="1"/>
          <p:nvPr/>
        </p:nvSpPr>
        <p:spPr>
          <a:xfrm>
            <a:off x="5166360" y="5349240"/>
            <a:ext cx="1828800" cy="804672"/>
          </a:xfrm>
          <a:prstGeom prst="rect">
            <a:avLst/>
          </a:prstGeom>
          <a:noFill/>
          <a:ln/>
        </p:spPr>
        <p:txBody>
          <a:bodyPr wrap="square" lIns="0" tIns="0" rIns="0" bIns="0" rtlCol="0" anchor="t"/>
          <a:lstStyle/>
          <a:p>
            <a:pPr indent="0" marL="0">
              <a:buNone/>
            </a:pPr>
            <a:r>
              <a:rPr lang="en-US" sz="1150" dirty="0">
                <a:solidFill>
                  <a:schemeClr val="tx1"/>
                </a:solidFill>
              </a:rPr>
              <a:t>위급하면 창구를 먼저, 안정도 50점 미만이면 멘토를 먼저</a:t>
            </a:r>
            <a:endParaRPr lang="en-US" sz="1150" dirty="0"/>
          </a:p>
        </p:txBody>
      </p:sp>
      <p:sp>
        <p:nvSpPr>
          <p:cNvPr id="23" name="agent-element"/>
          <p:cNvSpPr/>
          <p:nvPr/>
        </p:nvSpPr>
        <p:spPr>
          <a:xfrm>
            <a:off x="7269480" y="4919472"/>
            <a:ext cx="2103120" cy="1280160"/>
          </a:xfrm>
          <a:prstGeom prst="roundRect">
            <a:avLst>
              <a:gd name="adj" fmla="val 5714"/>
            </a:avLst>
          </a:prstGeom>
          <a:solidFill>
            <a:schemeClr val="bg2"/>
          </a:solidFill>
          <a:ln w="9525">
            <a:solidFill>
              <a:schemeClr val="bg2"/>
            </a:solidFill>
            <a:prstDash val="solid"/>
          </a:ln>
        </p:spPr>
      </p:sp>
      <p:sp>
        <p:nvSpPr>
          <p:cNvPr id="24" name="Text 21"/>
          <p:cNvSpPr txBox="1"/>
          <p:nvPr/>
        </p:nvSpPr>
        <p:spPr>
          <a:xfrm>
            <a:off x="7406640" y="5010912"/>
            <a:ext cx="1828800" cy="320040"/>
          </a:xfrm>
          <a:prstGeom prst="rect">
            <a:avLst/>
          </a:prstGeom>
          <a:noFill/>
          <a:ln/>
        </p:spPr>
        <p:txBody>
          <a:bodyPr wrap="square" lIns="0" tIns="0" rIns="0" bIns="0" rtlCol="0" anchor="t"/>
          <a:lstStyle/>
          <a:p>
            <a:pPr indent="0" marL="0">
              <a:buNone/>
            </a:pPr>
            <a:r>
              <a:rPr lang="en-US" sz="1400" b="1" dirty="0">
                <a:solidFill>
                  <a:schemeClr val="accent1"/>
                </a:solidFill>
              </a:rPr>
              <a:t>Tool 사용</a:t>
            </a:r>
            <a:endParaRPr lang="en-US" sz="1400" dirty="0"/>
          </a:p>
        </p:txBody>
      </p:sp>
      <p:sp>
        <p:nvSpPr>
          <p:cNvPr id="25" name="Text 22"/>
          <p:cNvSpPr txBox="1"/>
          <p:nvPr/>
        </p:nvSpPr>
        <p:spPr>
          <a:xfrm>
            <a:off x="7406640" y="5349240"/>
            <a:ext cx="1828800" cy="804672"/>
          </a:xfrm>
          <a:prstGeom prst="rect">
            <a:avLst/>
          </a:prstGeom>
          <a:noFill/>
          <a:ln/>
        </p:spPr>
        <p:txBody>
          <a:bodyPr wrap="square" lIns="0" tIns="0" rIns="0" bIns="0" rtlCol="0" anchor="t"/>
          <a:lstStyle/>
          <a:p>
            <a:pPr indent="0" marL="0">
              <a:buNone/>
            </a:pPr>
            <a:r>
              <a:rPr lang="en-US" sz="1150" dirty="0">
                <a:solidFill>
                  <a:schemeClr val="tx1"/>
                </a:solidFill>
              </a:rPr>
              <a:t>MCP로 도구 9개 직접 호출, 화면 '작업 기록'에 공개</a:t>
            </a:r>
            <a:endParaRPr lang="en-US" sz="1150" dirty="0"/>
          </a:p>
        </p:txBody>
      </p:sp>
      <p:sp>
        <p:nvSpPr>
          <p:cNvPr id="26" name="agent-element"/>
          <p:cNvSpPr/>
          <p:nvPr/>
        </p:nvSpPr>
        <p:spPr>
          <a:xfrm>
            <a:off x="9509760" y="4919472"/>
            <a:ext cx="2103120" cy="1280160"/>
          </a:xfrm>
          <a:prstGeom prst="roundRect">
            <a:avLst>
              <a:gd name="adj" fmla="val 5714"/>
            </a:avLst>
          </a:prstGeom>
          <a:solidFill>
            <a:schemeClr val="bg2"/>
          </a:solidFill>
          <a:ln w="9525">
            <a:solidFill>
              <a:schemeClr val="bg2"/>
            </a:solidFill>
            <a:prstDash val="solid"/>
          </a:ln>
        </p:spPr>
      </p:sp>
      <p:sp>
        <p:nvSpPr>
          <p:cNvPr id="27" name="Text 24"/>
          <p:cNvSpPr txBox="1"/>
          <p:nvPr/>
        </p:nvSpPr>
        <p:spPr>
          <a:xfrm>
            <a:off x="9646920" y="5010912"/>
            <a:ext cx="1828800" cy="320040"/>
          </a:xfrm>
          <a:prstGeom prst="rect">
            <a:avLst/>
          </a:prstGeom>
          <a:noFill/>
          <a:ln/>
        </p:spPr>
        <p:txBody>
          <a:bodyPr wrap="square" lIns="0" tIns="0" rIns="0" bIns="0" rtlCol="0" anchor="t"/>
          <a:lstStyle/>
          <a:p>
            <a:pPr indent="0" marL="0">
              <a:buNone/>
            </a:pPr>
            <a:r>
              <a:rPr lang="en-US" sz="1400" b="1" dirty="0">
                <a:solidFill>
                  <a:schemeClr val="accent1"/>
                </a:solidFill>
              </a:rPr>
              <a:t>Memory·Feedback</a:t>
            </a:r>
            <a:endParaRPr lang="en-US" sz="1400" dirty="0"/>
          </a:p>
        </p:txBody>
      </p:sp>
      <p:sp>
        <p:nvSpPr>
          <p:cNvPr id="28" name="Text 25"/>
          <p:cNvSpPr txBox="1"/>
          <p:nvPr/>
        </p:nvSpPr>
        <p:spPr>
          <a:xfrm>
            <a:off x="9646920" y="5349240"/>
            <a:ext cx="1828800" cy="804672"/>
          </a:xfrm>
          <a:prstGeom prst="rect">
            <a:avLst/>
          </a:prstGeom>
          <a:noFill/>
          <a:ln/>
        </p:spPr>
        <p:txBody>
          <a:bodyPr wrap="square" lIns="0" tIns="0" rIns="0" bIns="0" rtlCol="0" anchor="t"/>
          <a:lstStyle/>
          <a:p>
            <a:pPr indent="0" marL="0">
              <a:buNone/>
            </a:pPr>
            <a:r>
              <a:rPr lang="en-US" sz="1150" dirty="0">
                <a:solidFill>
                  <a:schemeClr val="tx1"/>
                </a:solidFill>
              </a:rPr>
              <a:t>사용자 상태 저장, 정보가 바뀌면 코드가 재계산·검증</a:t>
            </a:r>
            <a:endParaRPr lang="en-US" sz="11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정보가 바뀌면, 코드가 다시 계산한다</a:t>
            </a:r>
            <a:endParaRPr lang="en-US" sz="3000" dirty="0"/>
          </a:p>
        </p:txBody>
      </p:sp>
      <p:sp>
        <p:nvSpPr>
          <p:cNvPr id="3" name="pipe"/>
          <p:cNvSpPr/>
          <p:nvPr/>
        </p:nvSpPr>
        <p:spPr>
          <a:xfrm>
            <a:off x="548640" y="1325880"/>
            <a:ext cx="1691640" cy="1005840"/>
          </a:xfrm>
          <a:prstGeom prst="roundRect">
            <a:avLst>
              <a:gd name="adj" fmla="val 7273"/>
            </a:avLst>
          </a:prstGeom>
          <a:solidFill>
            <a:schemeClr val="accent2"/>
          </a:solidFill>
          <a:ln w="9525">
            <a:solidFill>
              <a:schemeClr val="accent2"/>
            </a:solidFill>
            <a:prstDash val="solid"/>
          </a:ln>
        </p:spPr>
      </p:sp>
      <p:sp>
        <p:nvSpPr>
          <p:cNvPr id="4" name="Text 2"/>
          <p:cNvSpPr txBox="1"/>
          <p:nvPr/>
        </p:nvSpPr>
        <p:spPr>
          <a:xfrm>
            <a:off x="548640" y="1325880"/>
            <a:ext cx="1691640" cy="1005840"/>
          </a:xfrm>
          <a:prstGeom prst="rect">
            <a:avLst/>
          </a:prstGeom>
          <a:noFill/>
          <a:ln/>
        </p:spPr>
        <p:txBody>
          <a:bodyPr wrap="square" lIns="0" tIns="0" rIns="0" bIns="0" rtlCol="0" anchor="ctr"/>
          <a:lstStyle/>
          <a:p>
            <a:pPr algn="ctr" indent="0" marL="0">
              <a:buNone/>
            </a:pPr>
            <a:r>
              <a:rPr lang="en-US" sz="1500" b="1" dirty="0">
                <a:solidFill>
                  <a:schemeClr val="bg1"/>
                </a:solidFill>
              </a:rPr>
              <a:t>정보 변경</a:t>
            </a:r>
            <a:endParaRPr lang="en-US" sz="1500" dirty="0"/>
          </a:p>
        </p:txBody>
      </p:sp>
      <p:sp>
        <p:nvSpPr>
          <p:cNvPr id="5" name="Shape 3"/>
          <p:cNvSpPr/>
          <p:nvPr/>
        </p:nvSpPr>
        <p:spPr>
          <a:xfrm>
            <a:off x="2267712" y="1719072"/>
            <a:ext cx="146304" cy="219456"/>
          </a:xfrm>
          <a:prstGeom prst="rightArrow">
            <a:avLst/>
          </a:prstGeom>
          <a:solidFill>
            <a:schemeClr val="accent6"/>
          </a:solidFill>
          <a:ln w="12700">
            <a:solidFill>
              <a:schemeClr val="accent6"/>
            </a:solidFill>
            <a:prstDash val="solid"/>
          </a:ln>
        </p:spPr>
      </p:sp>
      <p:sp>
        <p:nvSpPr>
          <p:cNvPr id="6" name="pipe"/>
          <p:cNvSpPr/>
          <p:nvPr/>
        </p:nvSpPr>
        <p:spPr>
          <a:xfrm>
            <a:off x="2432304" y="1325880"/>
            <a:ext cx="1691640" cy="1005840"/>
          </a:xfrm>
          <a:prstGeom prst="roundRect">
            <a:avLst>
              <a:gd name="adj" fmla="val 7273"/>
            </a:avLst>
          </a:prstGeom>
          <a:solidFill>
            <a:schemeClr val="accent1"/>
          </a:solidFill>
          <a:ln w="9525">
            <a:solidFill>
              <a:schemeClr val="accent1"/>
            </a:solidFill>
            <a:prstDash val="solid"/>
          </a:ln>
        </p:spPr>
      </p:sp>
      <p:sp>
        <p:nvSpPr>
          <p:cNvPr id="7" name="Text 5"/>
          <p:cNvSpPr txBox="1"/>
          <p:nvPr/>
        </p:nvSpPr>
        <p:spPr>
          <a:xfrm>
            <a:off x="2432304" y="1325880"/>
            <a:ext cx="1691640" cy="1005840"/>
          </a:xfrm>
          <a:prstGeom prst="rect">
            <a:avLst/>
          </a:prstGeom>
          <a:noFill/>
          <a:ln/>
        </p:spPr>
        <p:txBody>
          <a:bodyPr wrap="square" lIns="0" tIns="0" rIns="0" bIns="0" rtlCol="0" anchor="ctr"/>
          <a:lstStyle/>
          <a:p>
            <a:pPr algn="ctr" indent="0" marL="0">
              <a:buNone/>
            </a:pPr>
            <a:r>
              <a:rPr lang="en-US" sz="1500" b="1" dirty="0">
                <a:solidFill>
                  <a:schemeClr val="bg1"/>
                </a:solidFill>
              </a:rPr>
              <a:t>안정도</a:t>
            </a:r>
            <a:endParaRPr lang="en-US" sz="1500" dirty="0"/>
          </a:p>
          <a:p>
            <a:pPr algn="ctr" indent="0" marL="0">
              <a:buNone/>
            </a:pPr>
            <a:r>
              <a:rPr lang="en-US" sz="1500" b="1" dirty="0">
                <a:solidFill>
                  <a:schemeClr val="bg1"/>
                </a:solidFill>
              </a:rPr>
              <a:t>다시 채점</a:t>
            </a:r>
            <a:endParaRPr lang="en-US" sz="1500" dirty="0"/>
          </a:p>
        </p:txBody>
      </p:sp>
      <p:sp>
        <p:nvSpPr>
          <p:cNvPr id="8" name="Shape 6"/>
          <p:cNvSpPr/>
          <p:nvPr/>
        </p:nvSpPr>
        <p:spPr>
          <a:xfrm>
            <a:off x="4151376" y="1719072"/>
            <a:ext cx="146304" cy="219456"/>
          </a:xfrm>
          <a:prstGeom prst="rightArrow">
            <a:avLst/>
          </a:prstGeom>
          <a:solidFill>
            <a:schemeClr val="accent6"/>
          </a:solidFill>
          <a:ln w="12700">
            <a:solidFill>
              <a:schemeClr val="accent6"/>
            </a:solidFill>
            <a:prstDash val="solid"/>
          </a:ln>
        </p:spPr>
      </p:sp>
      <p:sp>
        <p:nvSpPr>
          <p:cNvPr id="9" name="pipe"/>
          <p:cNvSpPr/>
          <p:nvPr/>
        </p:nvSpPr>
        <p:spPr>
          <a:xfrm>
            <a:off x="4315968" y="1325880"/>
            <a:ext cx="1691640" cy="1005840"/>
          </a:xfrm>
          <a:prstGeom prst="roundRect">
            <a:avLst>
              <a:gd name="adj" fmla="val 7273"/>
            </a:avLst>
          </a:prstGeom>
          <a:solidFill>
            <a:schemeClr val="accent1"/>
          </a:solidFill>
          <a:ln w="9525">
            <a:solidFill>
              <a:schemeClr val="accent1"/>
            </a:solidFill>
            <a:prstDash val="solid"/>
          </a:ln>
        </p:spPr>
      </p:sp>
      <p:sp>
        <p:nvSpPr>
          <p:cNvPr id="10" name="Text 8"/>
          <p:cNvSpPr txBox="1"/>
          <p:nvPr/>
        </p:nvSpPr>
        <p:spPr>
          <a:xfrm>
            <a:off x="4315968" y="1325880"/>
            <a:ext cx="1691640" cy="1005840"/>
          </a:xfrm>
          <a:prstGeom prst="rect">
            <a:avLst/>
          </a:prstGeom>
          <a:noFill/>
          <a:ln/>
        </p:spPr>
        <p:txBody>
          <a:bodyPr wrap="square" lIns="0" tIns="0" rIns="0" bIns="0" rtlCol="0" anchor="ctr"/>
          <a:lstStyle/>
          <a:p>
            <a:pPr algn="ctr" indent="0" marL="0">
              <a:buNone/>
            </a:pPr>
            <a:r>
              <a:rPr lang="en-US" sz="1500" b="1" dirty="0">
                <a:solidFill>
                  <a:schemeClr val="bg1"/>
                </a:solidFill>
              </a:rPr>
              <a:t>로드맵</a:t>
            </a:r>
            <a:endParaRPr lang="en-US" sz="1500" dirty="0"/>
          </a:p>
          <a:p>
            <a:pPr algn="ctr" indent="0" marL="0">
              <a:buNone/>
            </a:pPr>
            <a:r>
              <a:rPr lang="en-US" sz="1500" b="1" dirty="0">
                <a:solidFill>
                  <a:schemeClr val="bg1"/>
                </a:solidFill>
              </a:rPr>
              <a:t>갱신</a:t>
            </a:r>
            <a:endParaRPr lang="en-US" sz="1500" dirty="0"/>
          </a:p>
        </p:txBody>
      </p:sp>
      <p:sp>
        <p:nvSpPr>
          <p:cNvPr id="11" name="Shape 9"/>
          <p:cNvSpPr/>
          <p:nvPr/>
        </p:nvSpPr>
        <p:spPr>
          <a:xfrm>
            <a:off x="6035040" y="1719072"/>
            <a:ext cx="146304" cy="219456"/>
          </a:xfrm>
          <a:prstGeom prst="rightArrow">
            <a:avLst/>
          </a:prstGeom>
          <a:solidFill>
            <a:schemeClr val="accent6"/>
          </a:solidFill>
          <a:ln w="12700">
            <a:solidFill>
              <a:schemeClr val="accent6"/>
            </a:solidFill>
            <a:prstDash val="solid"/>
          </a:ln>
        </p:spPr>
      </p:sp>
      <p:sp>
        <p:nvSpPr>
          <p:cNvPr id="12" name="pipe"/>
          <p:cNvSpPr/>
          <p:nvPr/>
        </p:nvSpPr>
        <p:spPr>
          <a:xfrm>
            <a:off x="6199632" y="1325880"/>
            <a:ext cx="1691640" cy="1005840"/>
          </a:xfrm>
          <a:prstGeom prst="roundRect">
            <a:avLst>
              <a:gd name="adj" fmla="val 7273"/>
            </a:avLst>
          </a:prstGeom>
          <a:solidFill>
            <a:schemeClr val="accent1"/>
          </a:solidFill>
          <a:ln w="9525">
            <a:solidFill>
              <a:schemeClr val="accent1"/>
            </a:solidFill>
            <a:prstDash val="solid"/>
          </a:ln>
        </p:spPr>
      </p:sp>
      <p:sp>
        <p:nvSpPr>
          <p:cNvPr id="13" name="Text 11"/>
          <p:cNvSpPr txBox="1"/>
          <p:nvPr/>
        </p:nvSpPr>
        <p:spPr>
          <a:xfrm>
            <a:off x="6199632" y="1325880"/>
            <a:ext cx="1691640" cy="1005840"/>
          </a:xfrm>
          <a:prstGeom prst="rect">
            <a:avLst/>
          </a:prstGeom>
          <a:noFill/>
          <a:ln/>
        </p:spPr>
        <p:txBody>
          <a:bodyPr wrap="square" lIns="0" tIns="0" rIns="0" bIns="0" rtlCol="0" anchor="ctr"/>
          <a:lstStyle/>
          <a:p>
            <a:pPr algn="ctr" indent="0" marL="0">
              <a:buNone/>
            </a:pPr>
            <a:r>
              <a:rPr lang="en-US" sz="1500" b="1" dirty="0">
                <a:solidFill>
                  <a:schemeClr val="bg1"/>
                </a:solidFill>
              </a:rPr>
              <a:t>지원사업</a:t>
            </a:r>
            <a:endParaRPr lang="en-US" sz="1500" dirty="0"/>
          </a:p>
          <a:p>
            <a:pPr algn="ctr" indent="0" marL="0">
              <a:buNone/>
            </a:pPr>
            <a:r>
              <a:rPr lang="en-US" sz="1500" b="1" dirty="0">
                <a:solidFill>
                  <a:schemeClr val="bg1"/>
                </a:solidFill>
              </a:rPr>
              <a:t>다시 검색</a:t>
            </a:r>
            <a:endParaRPr lang="en-US" sz="1500" dirty="0"/>
          </a:p>
        </p:txBody>
      </p:sp>
      <p:sp>
        <p:nvSpPr>
          <p:cNvPr id="14" name="Shape 12"/>
          <p:cNvSpPr/>
          <p:nvPr/>
        </p:nvSpPr>
        <p:spPr>
          <a:xfrm>
            <a:off x="7918704" y="1719072"/>
            <a:ext cx="146304" cy="219456"/>
          </a:xfrm>
          <a:prstGeom prst="rightArrow">
            <a:avLst/>
          </a:prstGeom>
          <a:solidFill>
            <a:schemeClr val="accent6"/>
          </a:solidFill>
          <a:ln w="12700">
            <a:solidFill>
              <a:schemeClr val="accent6"/>
            </a:solidFill>
            <a:prstDash val="solid"/>
          </a:ln>
        </p:spPr>
      </p:sp>
      <p:sp>
        <p:nvSpPr>
          <p:cNvPr id="15" name="pipe"/>
          <p:cNvSpPr/>
          <p:nvPr/>
        </p:nvSpPr>
        <p:spPr>
          <a:xfrm>
            <a:off x="8083296" y="1325880"/>
            <a:ext cx="1691640" cy="1005840"/>
          </a:xfrm>
          <a:prstGeom prst="roundRect">
            <a:avLst>
              <a:gd name="adj" fmla="val 7273"/>
            </a:avLst>
          </a:prstGeom>
          <a:solidFill>
            <a:schemeClr val="accent1"/>
          </a:solidFill>
          <a:ln w="9525">
            <a:solidFill>
              <a:schemeClr val="accent1"/>
            </a:solidFill>
            <a:prstDash val="solid"/>
          </a:ln>
        </p:spPr>
      </p:sp>
      <p:sp>
        <p:nvSpPr>
          <p:cNvPr id="16" name="Text 14"/>
          <p:cNvSpPr txBox="1"/>
          <p:nvPr/>
        </p:nvSpPr>
        <p:spPr>
          <a:xfrm>
            <a:off x="8083296" y="1325880"/>
            <a:ext cx="1691640" cy="1005840"/>
          </a:xfrm>
          <a:prstGeom prst="rect">
            <a:avLst/>
          </a:prstGeom>
          <a:noFill/>
          <a:ln/>
        </p:spPr>
        <p:txBody>
          <a:bodyPr wrap="square" lIns="0" tIns="0" rIns="0" bIns="0" rtlCol="0" anchor="ctr"/>
          <a:lstStyle/>
          <a:p>
            <a:pPr algn="ctr" indent="0" marL="0">
              <a:buNone/>
            </a:pPr>
            <a:r>
              <a:rPr lang="en-US" sz="1500" b="1" dirty="0">
                <a:solidFill>
                  <a:schemeClr val="bg1"/>
                </a:solidFill>
              </a:rPr>
              <a:t>결과 확인</a:t>
            </a:r>
            <a:endParaRPr lang="en-US" sz="1500" dirty="0"/>
          </a:p>
        </p:txBody>
      </p:sp>
      <p:sp>
        <p:nvSpPr>
          <p:cNvPr id="17" name="Shape 15"/>
          <p:cNvSpPr/>
          <p:nvPr/>
        </p:nvSpPr>
        <p:spPr>
          <a:xfrm>
            <a:off x="9802368" y="1719072"/>
            <a:ext cx="146304" cy="219456"/>
          </a:xfrm>
          <a:prstGeom prst="rightArrow">
            <a:avLst/>
          </a:prstGeom>
          <a:solidFill>
            <a:schemeClr val="accent6"/>
          </a:solidFill>
          <a:ln w="12700">
            <a:solidFill>
              <a:schemeClr val="accent6"/>
            </a:solidFill>
            <a:prstDash val="solid"/>
          </a:ln>
        </p:spPr>
      </p:sp>
      <p:sp>
        <p:nvSpPr>
          <p:cNvPr id="18" name="pipe"/>
          <p:cNvSpPr/>
          <p:nvPr/>
        </p:nvSpPr>
        <p:spPr>
          <a:xfrm>
            <a:off x="9966960" y="1325880"/>
            <a:ext cx="1691640" cy="1005840"/>
          </a:xfrm>
          <a:prstGeom prst="roundRect">
            <a:avLst>
              <a:gd name="adj" fmla="val 7273"/>
            </a:avLst>
          </a:prstGeom>
          <a:solidFill>
            <a:schemeClr val="accent2"/>
          </a:solidFill>
          <a:ln w="9525">
            <a:solidFill>
              <a:schemeClr val="accent2"/>
            </a:solidFill>
            <a:prstDash val="solid"/>
          </a:ln>
        </p:spPr>
      </p:sp>
      <p:sp>
        <p:nvSpPr>
          <p:cNvPr id="19" name="Text 17"/>
          <p:cNvSpPr txBox="1"/>
          <p:nvPr/>
        </p:nvSpPr>
        <p:spPr>
          <a:xfrm>
            <a:off x="9966960" y="1325880"/>
            <a:ext cx="1691640" cy="1005840"/>
          </a:xfrm>
          <a:prstGeom prst="rect">
            <a:avLst/>
          </a:prstGeom>
          <a:noFill/>
          <a:ln/>
        </p:spPr>
        <p:txBody>
          <a:bodyPr wrap="square" lIns="0" tIns="0" rIns="0" bIns="0" rtlCol="0" anchor="ctr"/>
          <a:lstStyle/>
          <a:p>
            <a:pPr algn="ctr" indent="0" marL="0">
              <a:buNone/>
            </a:pPr>
            <a:r>
              <a:rPr lang="en-US" sz="1500" b="1" dirty="0">
                <a:solidFill>
                  <a:schemeClr val="bg1"/>
                </a:solidFill>
              </a:rPr>
              <a:t>Claude가</a:t>
            </a:r>
            <a:endParaRPr lang="en-US" sz="1500" dirty="0"/>
          </a:p>
          <a:p>
            <a:pPr algn="ctr" indent="0" marL="0">
              <a:buNone/>
            </a:pPr>
            <a:r>
              <a:rPr lang="en-US" sz="1500" b="1" dirty="0">
                <a:solidFill>
                  <a:schemeClr val="bg1"/>
                </a:solidFill>
              </a:rPr>
              <a:t>설명</a:t>
            </a:r>
            <a:endParaRPr lang="en-US" sz="1500" dirty="0"/>
          </a:p>
        </p:txBody>
      </p:sp>
      <p:sp>
        <p:nvSpPr>
          <p:cNvPr id="20" name="example"/>
          <p:cNvSpPr/>
          <p:nvPr/>
        </p:nvSpPr>
        <p:spPr>
          <a:xfrm>
            <a:off x="548640" y="2560320"/>
            <a:ext cx="11064240" cy="868680"/>
          </a:xfrm>
          <a:prstGeom prst="roundRect">
            <a:avLst>
              <a:gd name="adj" fmla="val 8421"/>
            </a:avLst>
          </a:prstGeom>
          <a:solidFill>
            <a:schemeClr val="bg2"/>
          </a:solidFill>
          <a:ln w="9525">
            <a:solidFill>
              <a:schemeClr val="bg2"/>
            </a:solidFill>
            <a:prstDash val="solid"/>
          </a:ln>
        </p:spPr>
      </p:sp>
      <p:sp>
        <p:nvSpPr>
          <p:cNvPr id="21" name="Text 19"/>
          <p:cNvSpPr txBox="1"/>
          <p:nvPr/>
        </p:nvSpPr>
        <p:spPr>
          <a:xfrm>
            <a:off x="822960" y="2560320"/>
            <a:ext cx="10607040" cy="868680"/>
          </a:xfrm>
          <a:prstGeom prst="rect">
            <a:avLst/>
          </a:prstGeom>
          <a:noFill/>
          <a:ln/>
        </p:spPr>
        <p:txBody>
          <a:bodyPr wrap="square" lIns="0" tIns="0" rIns="0" bIns="0" rtlCol="0" anchor="ctr"/>
          <a:lstStyle/>
          <a:p>
            <a:pPr indent="0" marL="0">
              <a:buNone/>
            </a:pPr>
            <a:r>
              <a:rPr lang="en-US" sz="1400" b="1" dirty="0">
                <a:solidFill>
                  <a:srgbClr val="0E5E6F"/>
                </a:solidFill>
              </a:rPr>
              <a:t>예) </a:t>
            </a:r>
            <a:pPr indent="0" marL="0">
              <a:buNone/>
            </a:pPr>
            <a:r>
              <a:rPr lang="en-US" sz="1400" dirty="0">
                <a:solidFill>
                  <a:schemeClr val="tx1"/>
                </a:solidFill>
              </a:rPr>
              <a:t>"일자리를 잃었어요" → 로드맵에 "취업 지원" 추가 → 출처 있는 취업 사업만 연결 → 안정도 65 → 10점 재채점, 50점 아래라 멘토·상담을 먼저 권함</a:t>
            </a:r>
            <a:endParaRPr lang="en-US" sz="1400" dirty="0"/>
          </a:p>
        </p:txBody>
      </p:sp>
      <p:sp>
        <p:nvSpPr>
          <p:cNvPr id="22" name="rule"/>
          <p:cNvSpPr/>
          <p:nvPr/>
        </p:nvSpPr>
        <p:spPr>
          <a:xfrm>
            <a:off x="548640" y="3657600"/>
            <a:ext cx="3566160" cy="1600200"/>
          </a:xfrm>
          <a:prstGeom prst="roundRect">
            <a:avLst>
              <a:gd name="adj" fmla="val 4571"/>
            </a:avLst>
          </a:prstGeom>
          <a:solidFill>
            <a:schemeClr val="bg2"/>
          </a:solidFill>
          <a:ln w="9525">
            <a:solidFill>
              <a:schemeClr val="bg2"/>
            </a:solidFill>
            <a:prstDash val="solid"/>
          </a:ln>
        </p:spPr>
      </p:sp>
      <p:sp>
        <p:nvSpPr>
          <p:cNvPr id="23" name="Shape 21"/>
          <p:cNvSpPr/>
          <p:nvPr/>
        </p:nvSpPr>
        <p:spPr>
          <a:xfrm>
            <a:off x="777240" y="3840480"/>
            <a:ext cx="457200" cy="457200"/>
          </a:xfrm>
          <a:prstGeom prst="ellipse">
            <a:avLst/>
          </a:prstGeom>
          <a:solidFill>
            <a:schemeClr val="accent1"/>
          </a:solidFill>
          <a:ln w="12700">
            <a:solidFill>
              <a:schemeClr val="accent1"/>
            </a:solidFill>
            <a:prstDash val="solid"/>
          </a:ln>
        </p:spPr>
      </p:sp>
      <p:sp>
        <p:nvSpPr>
          <p:cNvPr id="24" name="Text 22"/>
          <p:cNvSpPr txBox="1"/>
          <p:nvPr/>
        </p:nvSpPr>
        <p:spPr>
          <a:xfrm>
            <a:off x="777240" y="3840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5" name="Text 23"/>
          <p:cNvSpPr txBox="1"/>
          <p:nvPr/>
        </p:nvSpPr>
        <p:spPr>
          <a:xfrm>
            <a:off x="1371600" y="3840480"/>
            <a:ext cx="2606040" cy="457200"/>
          </a:xfrm>
          <a:prstGeom prst="rect">
            <a:avLst/>
          </a:prstGeom>
          <a:noFill/>
          <a:ln/>
        </p:spPr>
        <p:txBody>
          <a:bodyPr wrap="square" lIns="0" tIns="0" rIns="0" bIns="0" rtlCol="0" anchor="ctr"/>
          <a:lstStyle/>
          <a:p>
            <a:pPr indent="0" marL="0">
              <a:buNone/>
            </a:pPr>
            <a:r>
              <a:rPr lang="en-US" sz="1700" b="1" dirty="0">
                <a:solidFill>
                  <a:schemeClr val="tx1"/>
                </a:solidFill>
              </a:rPr>
              <a:t>모르면 묻는다</a:t>
            </a:r>
            <a:endParaRPr lang="en-US" sz="1700" dirty="0"/>
          </a:p>
        </p:txBody>
      </p:sp>
      <p:sp>
        <p:nvSpPr>
          <p:cNvPr id="26" name="Text 24"/>
          <p:cNvSpPr txBox="1"/>
          <p:nvPr/>
        </p:nvSpPr>
        <p:spPr>
          <a:xfrm>
            <a:off x="777240" y="4389120"/>
            <a:ext cx="3154680" cy="822960"/>
          </a:xfrm>
          <a:prstGeom prst="rect">
            <a:avLst/>
          </a:prstGeom>
          <a:noFill/>
          <a:ln/>
        </p:spPr>
        <p:txBody>
          <a:bodyPr wrap="square" lIns="0" tIns="0" rIns="0" bIns="0" rtlCol="0" anchor="t"/>
          <a:lstStyle/>
          <a:p>
            <a:pPr indent="0" marL="0">
              <a:buNone/>
            </a:pPr>
            <a:r>
              <a:rPr lang="en-US" sz="1400" dirty="0">
                <a:solidFill>
                  <a:schemeClr val="accent5"/>
                </a:solidFill>
              </a:rPr>
              <a:t>정보가 부족하면 점수를 내지 않고 빠진 것만 되묻는다</a:t>
            </a:r>
            <a:endParaRPr lang="en-US" sz="1400" dirty="0"/>
          </a:p>
        </p:txBody>
      </p:sp>
      <p:sp>
        <p:nvSpPr>
          <p:cNvPr id="27" name="rule"/>
          <p:cNvSpPr/>
          <p:nvPr/>
        </p:nvSpPr>
        <p:spPr>
          <a:xfrm>
            <a:off x="4297680" y="3657600"/>
            <a:ext cx="3566160" cy="1600200"/>
          </a:xfrm>
          <a:prstGeom prst="roundRect">
            <a:avLst>
              <a:gd name="adj" fmla="val 4571"/>
            </a:avLst>
          </a:prstGeom>
          <a:solidFill>
            <a:schemeClr val="bg2"/>
          </a:solidFill>
          <a:ln w="9525">
            <a:solidFill>
              <a:schemeClr val="bg2"/>
            </a:solidFill>
            <a:prstDash val="solid"/>
          </a:ln>
        </p:spPr>
      </p:sp>
      <p:sp>
        <p:nvSpPr>
          <p:cNvPr id="28" name="Shape 26"/>
          <p:cNvSpPr/>
          <p:nvPr/>
        </p:nvSpPr>
        <p:spPr>
          <a:xfrm>
            <a:off x="4526280" y="3840480"/>
            <a:ext cx="457200" cy="457200"/>
          </a:xfrm>
          <a:prstGeom prst="ellipse">
            <a:avLst/>
          </a:prstGeom>
          <a:solidFill>
            <a:schemeClr val="accent1"/>
          </a:solidFill>
          <a:ln w="12700">
            <a:solidFill>
              <a:schemeClr val="accent1"/>
            </a:solidFill>
            <a:prstDash val="solid"/>
          </a:ln>
        </p:spPr>
      </p:sp>
      <p:sp>
        <p:nvSpPr>
          <p:cNvPr id="29" name="Text 27"/>
          <p:cNvSpPr txBox="1"/>
          <p:nvPr/>
        </p:nvSpPr>
        <p:spPr>
          <a:xfrm>
            <a:off x="4526280" y="3840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0" name="Text 28"/>
          <p:cNvSpPr txBox="1"/>
          <p:nvPr/>
        </p:nvSpPr>
        <p:spPr>
          <a:xfrm>
            <a:off x="5120640" y="3840480"/>
            <a:ext cx="2606040" cy="457200"/>
          </a:xfrm>
          <a:prstGeom prst="rect">
            <a:avLst/>
          </a:prstGeom>
          <a:noFill/>
          <a:ln/>
        </p:spPr>
        <p:txBody>
          <a:bodyPr wrap="square" lIns="0" tIns="0" rIns="0" bIns="0" rtlCol="0" anchor="ctr"/>
          <a:lstStyle/>
          <a:p>
            <a:pPr indent="0" marL="0">
              <a:buNone/>
            </a:pPr>
            <a:r>
              <a:rPr lang="en-US" sz="1700" b="1" dirty="0">
                <a:solidFill>
                  <a:schemeClr val="tx1"/>
                </a:solidFill>
              </a:rPr>
              <a:t>출처 있는 번호만</a:t>
            </a:r>
            <a:endParaRPr lang="en-US" sz="1700" dirty="0"/>
          </a:p>
        </p:txBody>
      </p:sp>
      <p:sp>
        <p:nvSpPr>
          <p:cNvPr id="31" name="Text 29"/>
          <p:cNvSpPr txBox="1"/>
          <p:nvPr/>
        </p:nvSpPr>
        <p:spPr>
          <a:xfrm>
            <a:off x="4526280" y="4389120"/>
            <a:ext cx="3154680" cy="822960"/>
          </a:xfrm>
          <a:prstGeom prst="rect">
            <a:avLst/>
          </a:prstGeom>
          <a:noFill/>
          <a:ln/>
        </p:spPr>
        <p:txBody>
          <a:bodyPr wrap="square" lIns="0" tIns="0" rIns="0" bIns="0" rtlCol="0" anchor="t"/>
          <a:lstStyle/>
          <a:p>
            <a:pPr indent="0" marL="0">
              <a:buNone/>
            </a:pPr>
            <a:r>
              <a:rPr lang="en-US" sz="1400" dirty="0">
                <a:solidFill>
                  <a:schemeClr val="accent5"/>
                </a:solidFill>
              </a:rPr>
              <a:t>전화번호·주소는 DB·공식 창구에 있을 때만 카드로 통과 (없는 번호는 코드가 거부)</a:t>
            </a:r>
            <a:endParaRPr lang="en-US" sz="1400" dirty="0"/>
          </a:p>
        </p:txBody>
      </p:sp>
      <p:sp>
        <p:nvSpPr>
          <p:cNvPr id="32" name="rule"/>
          <p:cNvSpPr/>
          <p:nvPr/>
        </p:nvSpPr>
        <p:spPr>
          <a:xfrm>
            <a:off x="8046720" y="3657600"/>
            <a:ext cx="3566160" cy="1600200"/>
          </a:xfrm>
          <a:prstGeom prst="roundRect">
            <a:avLst>
              <a:gd name="adj" fmla="val 4571"/>
            </a:avLst>
          </a:prstGeom>
          <a:solidFill>
            <a:schemeClr val="bg2"/>
          </a:solidFill>
          <a:ln w="9525">
            <a:solidFill>
              <a:schemeClr val="bg2"/>
            </a:solidFill>
            <a:prstDash val="solid"/>
          </a:ln>
        </p:spPr>
      </p:sp>
      <p:sp>
        <p:nvSpPr>
          <p:cNvPr id="33" name="Shape 31"/>
          <p:cNvSpPr/>
          <p:nvPr/>
        </p:nvSpPr>
        <p:spPr>
          <a:xfrm>
            <a:off x="8275320" y="3840480"/>
            <a:ext cx="457200" cy="457200"/>
          </a:xfrm>
          <a:prstGeom prst="ellipse">
            <a:avLst/>
          </a:prstGeom>
          <a:solidFill>
            <a:schemeClr val="accent1"/>
          </a:solidFill>
          <a:ln w="12700">
            <a:solidFill>
              <a:schemeClr val="accent1"/>
            </a:solidFill>
            <a:prstDash val="solid"/>
          </a:ln>
        </p:spPr>
      </p:sp>
      <p:sp>
        <p:nvSpPr>
          <p:cNvPr id="34" name="Text 32"/>
          <p:cNvSpPr txBox="1"/>
          <p:nvPr/>
        </p:nvSpPr>
        <p:spPr>
          <a:xfrm>
            <a:off x="8275320" y="3840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5" name="Text 33"/>
          <p:cNvSpPr txBox="1"/>
          <p:nvPr/>
        </p:nvSpPr>
        <p:spPr>
          <a:xfrm>
            <a:off x="8869680" y="3840480"/>
            <a:ext cx="2606040" cy="457200"/>
          </a:xfrm>
          <a:prstGeom prst="rect">
            <a:avLst/>
          </a:prstGeom>
          <a:noFill/>
          <a:ln/>
        </p:spPr>
        <p:txBody>
          <a:bodyPr wrap="square" lIns="0" tIns="0" rIns="0" bIns="0" rtlCol="0" anchor="ctr"/>
          <a:lstStyle/>
          <a:p>
            <a:pPr indent="0" marL="0">
              <a:buNone/>
            </a:pPr>
            <a:r>
              <a:rPr lang="en-US" sz="1700" b="1" dirty="0">
                <a:solidFill>
                  <a:schemeClr val="tx1"/>
                </a:solidFill>
              </a:rPr>
              <a:t>같은 말 반복 안 함</a:t>
            </a:r>
            <a:endParaRPr lang="en-US" sz="1700" dirty="0"/>
          </a:p>
        </p:txBody>
      </p:sp>
      <p:sp>
        <p:nvSpPr>
          <p:cNvPr id="36" name="Text 34"/>
          <p:cNvSpPr txBox="1"/>
          <p:nvPr/>
        </p:nvSpPr>
        <p:spPr>
          <a:xfrm>
            <a:off x="8275320" y="4389120"/>
            <a:ext cx="3154680" cy="822960"/>
          </a:xfrm>
          <a:prstGeom prst="rect">
            <a:avLst/>
          </a:prstGeom>
          <a:noFill/>
          <a:ln/>
        </p:spPr>
        <p:txBody>
          <a:bodyPr wrap="square" lIns="0" tIns="0" rIns="0" bIns="0" rtlCol="0" anchor="t"/>
          <a:lstStyle/>
          <a:p>
            <a:pPr indent="0" marL="0">
              <a:buNone/>
            </a:pPr>
            <a:r>
              <a:rPr lang="en-US" sz="1400" dirty="0">
                <a:solidFill>
                  <a:schemeClr val="accent5"/>
                </a:solidFill>
              </a:rPr>
              <a:t>방금 고른 상담 창구는 다음 턴에 다시 권하지 않는다 (코드로 보장)</a:t>
            </a:r>
            <a:endParaRPr lang="en-US" sz="1400" dirty="0"/>
          </a:p>
        </p:txBody>
      </p:sp>
      <p:sp>
        <p:nvSpPr>
          <p:cNvPr id="37" name="Text 35"/>
          <p:cNvSpPr txBox="1"/>
          <p:nvPr/>
        </p:nvSpPr>
        <p:spPr>
          <a:xfrm>
            <a:off x="548640" y="5486400"/>
            <a:ext cx="11064240" cy="365760"/>
          </a:xfrm>
          <a:prstGeom prst="rect">
            <a:avLst/>
          </a:prstGeom>
          <a:noFill/>
          <a:ln/>
        </p:spPr>
        <p:txBody>
          <a:bodyPr wrap="square" lIns="0" tIns="0" rIns="0" bIns="0" rtlCol="0" anchor="t"/>
          <a:lstStyle/>
          <a:p>
            <a:pPr indent="0" marL="0">
              <a:buNone/>
            </a:pPr>
            <a:r>
              <a:rPr lang="en-US" sz="1400" b="1" dirty="0">
                <a:solidFill>
                  <a:schemeClr val="accent3"/>
                </a:solidFill>
              </a:rPr>
              <a:t>모두 자동 테스트로 검증 (test_pipeline · test_actions · test_tools)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시연: 첫 대화부터 재방문까지</a:t>
            </a:r>
            <a:endParaRPr lang="en-US" sz="3000" dirty="0"/>
          </a:p>
        </p:txBody>
      </p:sp>
      <p:sp>
        <p:nvSpPr>
          <p:cNvPr id="3" name="Shape 1"/>
          <p:cNvSpPr/>
          <p:nvPr/>
        </p:nvSpPr>
        <p:spPr>
          <a:xfrm>
            <a:off x="548640" y="1399032"/>
            <a:ext cx="502920" cy="502920"/>
          </a:xfrm>
          <a:prstGeom prst="ellipse">
            <a:avLst/>
          </a:prstGeom>
          <a:solidFill>
            <a:schemeClr val="accent1"/>
          </a:solidFill>
          <a:ln w="12700">
            <a:solidFill>
              <a:schemeClr val="accent1"/>
            </a:solidFill>
            <a:prstDash val="solid"/>
          </a:ln>
        </p:spPr>
      </p:sp>
      <p:sp>
        <p:nvSpPr>
          <p:cNvPr id="4" name="Text 2"/>
          <p:cNvSpPr txBox="1"/>
          <p:nvPr/>
        </p:nvSpPr>
        <p:spPr>
          <a:xfrm>
            <a:off x="548640" y="1399032"/>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Text 3"/>
          <p:cNvSpPr txBox="1"/>
          <p:nvPr/>
        </p:nvSpPr>
        <p:spPr>
          <a:xfrm>
            <a:off x="1234440" y="1344168"/>
            <a:ext cx="3840480" cy="347472"/>
          </a:xfrm>
          <a:prstGeom prst="rect">
            <a:avLst/>
          </a:prstGeom>
          <a:noFill/>
          <a:ln/>
        </p:spPr>
        <p:txBody>
          <a:bodyPr wrap="square" lIns="0" tIns="0" rIns="0" bIns="0" rtlCol="0" anchor="t"/>
          <a:lstStyle/>
          <a:p>
            <a:pPr indent="0" marL="0">
              <a:buNone/>
            </a:pPr>
            <a:r>
              <a:rPr lang="en-US" sz="1600" b="1" dirty="0">
                <a:solidFill>
                  <a:schemeClr val="tx1"/>
                </a:solidFill>
              </a:rPr>
              <a:t>자기 언어로 상황 입력</a:t>
            </a:r>
            <a:endParaRPr lang="en-US" sz="1600" dirty="0"/>
          </a:p>
        </p:txBody>
      </p:sp>
      <p:sp>
        <p:nvSpPr>
          <p:cNvPr id="6" name="Text 4"/>
          <p:cNvSpPr txBox="1"/>
          <p:nvPr/>
        </p:nvSpPr>
        <p:spPr>
          <a:xfrm>
            <a:off x="1234440" y="1691640"/>
            <a:ext cx="3840480" cy="292608"/>
          </a:xfrm>
          <a:prstGeom prst="rect">
            <a:avLst/>
          </a:prstGeom>
          <a:noFill/>
          <a:ln/>
        </p:spPr>
        <p:txBody>
          <a:bodyPr wrap="square" lIns="0" tIns="0" rIns="0" bIns="0" rtlCol="0" anchor="t"/>
          <a:lstStyle/>
          <a:p>
            <a:pPr indent="0" marL="0">
              <a:buNone/>
            </a:pPr>
            <a:r>
              <a:rPr lang="en-US" sz="1200" dirty="0">
                <a:solidFill>
                  <a:schemeClr val="accent3"/>
                </a:solidFill>
                <a:latin typeface="Consolas" pitchFamily="34" charset="0"/>
                <a:ea typeface="Consolas" pitchFamily="34" charset="-122"/>
                <a:cs typeface="Consolas" pitchFamily="34" charset="-120"/>
              </a:rPr>
              <a:t>save_profile</a:t>
            </a:r>
            <a:endParaRPr lang="en-US" sz="1200" dirty="0"/>
          </a:p>
        </p:txBody>
      </p:sp>
      <p:sp>
        <p:nvSpPr>
          <p:cNvPr id="7" name="Shape 5"/>
          <p:cNvSpPr/>
          <p:nvPr/>
        </p:nvSpPr>
        <p:spPr>
          <a:xfrm>
            <a:off x="548640" y="2185416"/>
            <a:ext cx="502920" cy="502920"/>
          </a:xfrm>
          <a:prstGeom prst="ellipse">
            <a:avLst/>
          </a:prstGeom>
          <a:solidFill>
            <a:schemeClr val="accent1"/>
          </a:solidFill>
          <a:ln w="12700">
            <a:solidFill>
              <a:schemeClr val="accent1"/>
            </a:solidFill>
            <a:prstDash val="solid"/>
          </a:ln>
        </p:spPr>
      </p:sp>
      <p:sp>
        <p:nvSpPr>
          <p:cNvPr id="8" name="Text 6"/>
          <p:cNvSpPr txBox="1"/>
          <p:nvPr/>
        </p:nvSpPr>
        <p:spPr>
          <a:xfrm>
            <a:off x="548640" y="2185416"/>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1234440" y="2130552"/>
            <a:ext cx="3840480" cy="347472"/>
          </a:xfrm>
          <a:prstGeom prst="rect">
            <a:avLst/>
          </a:prstGeom>
          <a:noFill/>
          <a:ln/>
        </p:spPr>
        <p:txBody>
          <a:bodyPr wrap="square" lIns="0" tIns="0" rIns="0" bIns="0" rtlCol="0" anchor="t"/>
          <a:lstStyle/>
          <a:p>
            <a:pPr indent="0" marL="0">
              <a:buNone/>
            </a:pPr>
            <a:r>
              <a:rPr lang="en-US" sz="1600" b="1" dirty="0">
                <a:solidFill>
                  <a:schemeClr val="tx1"/>
                </a:solidFill>
              </a:rPr>
              <a:t>안정도 진단</a:t>
            </a:r>
            <a:endParaRPr lang="en-US" sz="1600" dirty="0"/>
          </a:p>
        </p:txBody>
      </p:sp>
      <p:sp>
        <p:nvSpPr>
          <p:cNvPr id="10" name="Text 8"/>
          <p:cNvSpPr txBox="1"/>
          <p:nvPr/>
        </p:nvSpPr>
        <p:spPr>
          <a:xfrm>
            <a:off x="1234440" y="2478024"/>
            <a:ext cx="3840480" cy="292608"/>
          </a:xfrm>
          <a:prstGeom prst="rect">
            <a:avLst/>
          </a:prstGeom>
          <a:noFill/>
          <a:ln/>
        </p:spPr>
        <p:txBody>
          <a:bodyPr wrap="square" lIns="0" tIns="0" rIns="0" bIns="0" rtlCol="0" anchor="t"/>
          <a:lstStyle/>
          <a:p>
            <a:pPr indent="0" marL="0">
              <a:buNone/>
            </a:pPr>
            <a:r>
              <a:rPr lang="en-US" sz="1200" dirty="0">
                <a:solidFill>
                  <a:schemeClr val="accent3"/>
                </a:solidFill>
                <a:latin typeface="Consolas" pitchFamily="34" charset="0"/>
                <a:ea typeface="Consolas" pitchFamily="34" charset="-122"/>
                <a:cs typeface="Consolas" pitchFamily="34" charset="-120"/>
              </a:rPr>
              <a:t>score_risk</a:t>
            </a:r>
            <a:endParaRPr lang="en-US" sz="1200" dirty="0"/>
          </a:p>
        </p:txBody>
      </p:sp>
      <p:sp>
        <p:nvSpPr>
          <p:cNvPr id="11" name="Shape 9"/>
          <p:cNvSpPr/>
          <p:nvPr/>
        </p:nvSpPr>
        <p:spPr>
          <a:xfrm>
            <a:off x="548640" y="2971800"/>
            <a:ext cx="502920" cy="502920"/>
          </a:xfrm>
          <a:prstGeom prst="ellipse">
            <a:avLst/>
          </a:prstGeom>
          <a:solidFill>
            <a:schemeClr val="accent1"/>
          </a:solidFill>
          <a:ln w="12700">
            <a:solidFill>
              <a:schemeClr val="accent1"/>
            </a:solidFill>
            <a:prstDash val="solid"/>
          </a:ln>
        </p:spPr>
      </p:sp>
      <p:sp>
        <p:nvSpPr>
          <p:cNvPr id="12" name="Text 10"/>
          <p:cNvSpPr txBox="1"/>
          <p:nvPr/>
        </p:nvSpPr>
        <p:spPr>
          <a:xfrm>
            <a:off x="548640" y="297180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 11"/>
          <p:cNvSpPr txBox="1"/>
          <p:nvPr/>
        </p:nvSpPr>
        <p:spPr>
          <a:xfrm>
            <a:off x="1234440" y="2916936"/>
            <a:ext cx="3840480" cy="347472"/>
          </a:xfrm>
          <a:prstGeom prst="rect">
            <a:avLst/>
          </a:prstGeom>
          <a:noFill/>
          <a:ln/>
        </p:spPr>
        <p:txBody>
          <a:bodyPr wrap="square" lIns="0" tIns="0" rIns="0" bIns="0" rtlCol="0" anchor="t"/>
          <a:lstStyle/>
          <a:p>
            <a:pPr indent="0" marL="0">
              <a:buNone/>
            </a:pPr>
            <a:r>
              <a:rPr lang="en-US" sz="1600" b="1" dirty="0">
                <a:solidFill>
                  <a:schemeClr val="tx1"/>
                </a:solidFill>
              </a:rPr>
              <a:t>맞춤 로드맵</a:t>
            </a:r>
            <a:endParaRPr lang="en-US" sz="1600" dirty="0"/>
          </a:p>
        </p:txBody>
      </p:sp>
      <p:sp>
        <p:nvSpPr>
          <p:cNvPr id="14" name="Text 12"/>
          <p:cNvSpPr txBox="1"/>
          <p:nvPr/>
        </p:nvSpPr>
        <p:spPr>
          <a:xfrm>
            <a:off x="1234440" y="3264408"/>
            <a:ext cx="3840480" cy="292608"/>
          </a:xfrm>
          <a:prstGeom prst="rect">
            <a:avLst/>
          </a:prstGeom>
          <a:noFill/>
          <a:ln/>
        </p:spPr>
        <p:txBody>
          <a:bodyPr wrap="square" lIns="0" tIns="0" rIns="0" bIns="0" rtlCol="0" anchor="t"/>
          <a:lstStyle/>
          <a:p>
            <a:pPr indent="0" marL="0">
              <a:buNone/>
            </a:pPr>
            <a:r>
              <a:rPr lang="en-US" sz="1200" dirty="0">
                <a:solidFill>
                  <a:schemeClr val="accent3"/>
                </a:solidFill>
                <a:latin typeface="Consolas" pitchFamily="34" charset="0"/>
                <a:ea typeface="Consolas" pitchFamily="34" charset="-122"/>
                <a:cs typeface="Consolas" pitchFamily="34" charset="-120"/>
              </a:rPr>
              <a:t>build_roadmap</a:t>
            </a:r>
            <a:endParaRPr lang="en-US" sz="1200" dirty="0"/>
          </a:p>
        </p:txBody>
      </p:sp>
      <p:sp>
        <p:nvSpPr>
          <p:cNvPr id="15" name="Shape 13"/>
          <p:cNvSpPr/>
          <p:nvPr/>
        </p:nvSpPr>
        <p:spPr>
          <a:xfrm>
            <a:off x="548640" y="3758184"/>
            <a:ext cx="502920" cy="502920"/>
          </a:xfrm>
          <a:prstGeom prst="ellipse">
            <a:avLst/>
          </a:prstGeom>
          <a:solidFill>
            <a:schemeClr val="accent1"/>
          </a:solidFill>
          <a:ln w="12700">
            <a:solidFill>
              <a:schemeClr val="accent1"/>
            </a:solidFill>
            <a:prstDash val="solid"/>
          </a:ln>
        </p:spPr>
      </p:sp>
      <p:sp>
        <p:nvSpPr>
          <p:cNvPr id="16" name="Text 14"/>
          <p:cNvSpPr txBox="1"/>
          <p:nvPr/>
        </p:nvSpPr>
        <p:spPr>
          <a:xfrm>
            <a:off x="548640" y="3758184"/>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7" name="Text 15"/>
          <p:cNvSpPr txBox="1"/>
          <p:nvPr/>
        </p:nvSpPr>
        <p:spPr>
          <a:xfrm>
            <a:off x="1234440" y="3703320"/>
            <a:ext cx="3840480" cy="347472"/>
          </a:xfrm>
          <a:prstGeom prst="rect">
            <a:avLst/>
          </a:prstGeom>
          <a:noFill/>
          <a:ln/>
        </p:spPr>
        <p:txBody>
          <a:bodyPr wrap="square" lIns="0" tIns="0" rIns="0" bIns="0" rtlCol="0" anchor="t"/>
          <a:lstStyle/>
          <a:p>
            <a:pPr indent="0" marL="0">
              <a:buNone/>
            </a:pPr>
            <a:r>
              <a:rPr lang="en-US" sz="1600" b="1" dirty="0">
                <a:solidFill>
                  <a:schemeClr val="tx1"/>
                </a:solidFill>
              </a:rPr>
              <a:t>지원사업 연결</a:t>
            </a:r>
            <a:endParaRPr lang="en-US" sz="1600" dirty="0"/>
          </a:p>
        </p:txBody>
      </p:sp>
      <p:sp>
        <p:nvSpPr>
          <p:cNvPr id="18" name="Text 16"/>
          <p:cNvSpPr txBox="1"/>
          <p:nvPr/>
        </p:nvSpPr>
        <p:spPr>
          <a:xfrm>
            <a:off x="1234440" y="4050792"/>
            <a:ext cx="3840480" cy="292608"/>
          </a:xfrm>
          <a:prstGeom prst="rect">
            <a:avLst/>
          </a:prstGeom>
          <a:noFill/>
          <a:ln/>
        </p:spPr>
        <p:txBody>
          <a:bodyPr wrap="square" lIns="0" tIns="0" rIns="0" bIns="0" rtlCol="0" anchor="t"/>
          <a:lstStyle/>
          <a:p>
            <a:pPr indent="0" marL="0">
              <a:buNone/>
            </a:pPr>
            <a:r>
              <a:rPr lang="en-US" sz="1200" dirty="0">
                <a:solidFill>
                  <a:schemeClr val="accent3"/>
                </a:solidFill>
                <a:latin typeface="Consolas" pitchFamily="34" charset="0"/>
                <a:ea typeface="Consolas" pitchFamily="34" charset="-122"/>
                <a:cs typeface="Consolas" pitchFamily="34" charset="-120"/>
              </a:rPr>
              <a:t>search_programs</a:t>
            </a:r>
            <a:endParaRPr lang="en-US" sz="1200" dirty="0"/>
          </a:p>
        </p:txBody>
      </p:sp>
      <p:sp>
        <p:nvSpPr>
          <p:cNvPr id="19" name="Shape 17"/>
          <p:cNvSpPr/>
          <p:nvPr/>
        </p:nvSpPr>
        <p:spPr>
          <a:xfrm>
            <a:off x="548640" y="4544568"/>
            <a:ext cx="502920" cy="502920"/>
          </a:xfrm>
          <a:prstGeom prst="ellipse">
            <a:avLst/>
          </a:prstGeom>
          <a:solidFill>
            <a:schemeClr val="accent2"/>
          </a:solidFill>
          <a:ln w="12700">
            <a:solidFill>
              <a:schemeClr val="accent2"/>
            </a:solidFill>
            <a:prstDash val="solid"/>
          </a:ln>
        </p:spPr>
      </p:sp>
      <p:sp>
        <p:nvSpPr>
          <p:cNvPr id="20" name="Text 18"/>
          <p:cNvSpPr txBox="1"/>
          <p:nvPr/>
        </p:nvSpPr>
        <p:spPr>
          <a:xfrm>
            <a:off x="548640" y="4544568"/>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1" name="Text 19"/>
          <p:cNvSpPr txBox="1"/>
          <p:nvPr/>
        </p:nvSpPr>
        <p:spPr>
          <a:xfrm>
            <a:off x="1234440" y="4489704"/>
            <a:ext cx="3840480" cy="347472"/>
          </a:xfrm>
          <a:prstGeom prst="rect">
            <a:avLst/>
          </a:prstGeom>
          <a:noFill/>
          <a:ln/>
        </p:spPr>
        <p:txBody>
          <a:bodyPr wrap="square" lIns="0" tIns="0" rIns="0" bIns="0" rtlCol="0" anchor="t"/>
          <a:lstStyle/>
          <a:p>
            <a:pPr indent="0" marL="0">
              <a:buNone/>
            </a:pPr>
            <a:r>
              <a:rPr lang="en-US" sz="1600" b="1" dirty="0">
                <a:solidFill>
                  <a:schemeClr val="tx1"/>
                </a:solidFill>
              </a:rPr>
              <a:t>신청서 초안 → Word</a:t>
            </a:r>
            <a:endParaRPr lang="en-US" sz="1600" dirty="0"/>
          </a:p>
        </p:txBody>
      </p:sp>
      <p:sp>
        <p:nvSpPr>
          <p:cNvPr id="22" name="Text 20"/>
          <p:cNvSpPr txBox="1"/>
          <p:nvPr/>
        </p:nvSpPr>
        <p:spPr>
          <a:xfrm>
            <a:off x="1234440" y="4837176"/>
            <a:ext cx="3840480" cy="292608"/>
          </a:xfrm>
          <a:prstGeom prst="rect">
            <a:avLst/>
          </a:prstGeom>
          <a:noFill/>
          <a:ln/>
        </p:spPr>
        <p:txBody>
          <a:bodyPr wrap="square" lIns="0" tIns="0" rIns="0" bIns="0" rtlCol="0" anchor="t"/>
          <a:lstStyle/>
          <a:p>
            <a:pPr indent="0" marL="0">
              <a:buNone/>
            </a:pPr>
            <a:r>
              <a:rPr lang="en-US" sz="1200" dirty="0">
                <a:solidFill>
                  <a:schemeClr val="accent3"/>
                </a:solidFill>
                <a:latin typeface="Consolas" pitchFamily="34" charset="0"/>
                <a:ea typeface="Consolas" pitchFamily="34" charset="-122"/>
                <a:cs typeface="Consolas" pitchFamily="34" charset="-120"/>
              </a:rPr>
              <a:t>draft_application</a:t>
            </a:r>
            <a:endParaRPr lang="en-US" sz="1200" dirty="0"/>
          </a:p>
        </p:txBody>
      </p:sp>
      <p:sp>
        <p:nvSpPr>
          <p:cNvPr id="23" name="Shape 21"/>
          <p:cNvSpPr/>
          <p:nvPr/>
        </p:nvSpPr>
        <p:spPr>
          <a:xfrm>
            <a:off x="548640" y="5330952"/>
            <a:ext cx="502920" cy="502920"/>
          </a:xfrm>
          <a:prstGeom prst="ellipse">
            <a:avLst/>
          </a:prstGeom>
          <a:solidFill>
            <a:schemeClr val="accent1"/>
          </a:solidFill>
          <a:ln w="12700">
            <a:solidFill>
              <a:schemeClr val="accent1"/>
            </a:solidFill>
            <a:prstDash val="solid"/>
          </a:ln>
        </p:spPr>
      </p:sp>
      <p:sp>
        <p:nvSpPr>
          <p:cNvPr id="24" name="Text 22"/>
          <p:cNvSpPr txBox="1"/>
          <p:nvPr/>
        </p:nvSpPr>
        <p:spPr>
          <a:xfrm>
            <a:off x="548640" y="5330952"/>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5" name="Text 23"/>
          <p:cNvSpPr txBox="1"/>
          <p:nvPr/>
        </p:nvSpPr>
        <p:spPr>
          <a:xfrm>
            <a:off x="1234440" y="5276088"/>
            <a:ext cx="3840480" cy="347472"/>
          </a:xfrm>
          <a:prstGeom prst="rect">
            <a:avLst/>
          </a:prstGeom>
          <a:noFill/>
          <a:ln/>
        </p:spPr>
        <p:txBody>
          <a:bodyPr wrap="square" lIns="0" tIns="0" rIns="0" bIns="0" rtlCol="0" anchor="t"/>
          <a:lstStyle/>
          <a:p>
            <a:pPr indent="0" marL="0">
              <a:buNone/>
            </a:pPr>
            <a:r>
              <a:rPr lang="en-US" sz="1600" b="1" dirty="0">
                <a:solidFill>
                  <a:schemeClr val="tx1"/>
                </a:solidFill>
              </a:rPr>
              <a:t>재방문 시 먼저 안내</a:t>
            </a:r>
            <a:endParaRPr lang="en-US" sz="1600" dirty="0"/>
          </a:p>
        </p:txBody>
      </p:sp>
      <p:sp>
        <p:nvSpPr>
          <p:cNvPr id="26" name="Text 24"/>
          <p:cNvSpPr txBox="1"/>
          <p:nvPr/>
        </p:nvSpPr>
        <p:spPr>
          <a:xfrm>
            <a:off x="1234440" y="5623560"/>
            <a:ext cx="3840480" cy="292608"/>
          </a:xfrm>
          <a:prstGeom prst="rect">
            <a:avLst/>
          </a:prstGeom>
          <a:noFill/>
          <a:ln/>
        </p:spPr>
        <p:txBody>
          <a:bodyPr wrap="square" lIns="0" tIns="0" rIns="0" bIns="0" rtlCol="0" anchor="t"/>
          <a:lstStyle/>
          <a:p>
            <a:pPr indent="0" marL="0">
              <a:buNone/>
            </a:pPr>
            <a:r>
              <a:rPr lang="en-US" sz="1200" dirty="0">
                <a:solidFill>
                  <a:schemeClr val="accent3"/>
                </a:solidFill>
                <a:latin typeface="Consolas" pitchFamily="34" charset="0"/>
                <a:ea typeface="Consolas" pitchFamily="34" charset="-122"/>
                <a:cs typeface="Consolas" pitchFamily="34" charset="-120"/>
              </a:rPr>
              <a:t>set_dday_reminder</a:t>
            </a:r>
            <a:endParaRPr lang="en-US" sz="1200" dirty="0"/>
          </a:p>
        </p:txBody>
      </p:sp>
      <p:sp>
        <p:nvSpPr>
          <p:cNvPr id="27" name="video"/>
          <p:cNvSpPr/>
          <p:nvPr/>
        </p:nvSpPr>
        <p:spPr>
          <a:xfrm>
            <a:off x="5394960" y="1325880"/>
            <a:ext cx="6217920" cy="3520440"/>
          </a:xfrm>
          <a:prstGeom prst="roundRect">
            <a:avLst>
              <a:gd name="adj" fmla="val 2078"/>
            </a:avLst>
          </a:prstGeom>
          <a:solidFill>
            <a:schemeClr val="tx2"/>
          </a:solidFill>
          <a:ln w="9525">
            <a:solidFill>
              <a:schemeClr val="tx2"/>
            </a:solidFill>
            <a:prstDash val="solid"/>
          </a:ln>
        </p:spPr>
      </p:sp>
      <p:sp>
        <p:nvSpPr>
          <p:cNvPr id="28" name="Shape 26"/>
          <p:cNvSpPr/>
          <p:nvPr/>
        </p:nvSpPr>
        <p:spPr>
          <a:xfrm>
            <a:off x="8092440" y="2423160"/>
            <a:ext cx="822960" cy="822960"/>
          </a:xfrm>
          <a:prstGeom prst="ellipse">
            <a:avLst/>
          </a:prstGeom>
          <a:solidFill>
            <a:schemeClr val="accent2"/>
          </a:solidFill>
          <a:ln w="12700">
            <a:solidFill>
              <a:schemeClr val="accent2"/>
            </a:solidFill>
            <a:prstDash val="solid"/>
          </a:ln>
        </p:spPr>
      </p:sp>
      <p:sp>
        <p:nvSpPr>
          <p:cNvPr id="29" name="Shape 27"/>
          <p:cNvSpPr/>
          <p:nvPr/>
        </p:nvSpPr>
        <p:spPr>
          <a:xfrm rot="5400000">
            <a:off x="8348472" y="2633472"/>
            <a:ext cx="384048" cy="384048"/>
          </a:xfrm>
          <a:prstGeom prst="triangle">
            <a:avLst/>
          </a:prstGeom>
          <a:solidFill>
            <a:schemeClr val="bg1"/>
          </a:solidFill>
          <a:ln w="12700">
            <a:solidFill>
              <a:schemeClr val="bg1"/>
            </a:solidFill>
            <a:prstDash val="solid"/>
          </a:ln>
        </p:spPr>
      </p:sp>
      <p:sp>
        <p:nvSpPr>
          <p:cNvPr id="30" name="Text 28"/>
          <p:cNvSpPr txBox="1"/>
          <p:nvPr/>
        </p:nvSpPr>
        <p:spPr>
          <a:xfrm>
            <a:off x="5394960" y="3429000"/>
            <a:ext cx="6217920" cy="457200"/>
          </a:xfrm>
          <a:prstGeom prst="rect">
            <a:avLst/>
          </a:prstGeom>
          <a:noFill/>
          <a:ln/>
        </p:spPr>
        <p:txBody>
          <a:bodyPr wrap="square" lIns="0" tIns="0" rIns="0" bIns="0" rtlCol="0" anchor="t"/>
          <a:lstStyle/>
          <a:p>
            <a:pPr algn="ctr" indent="0" marL="0">
              <a:buNone/>
            </a:pPr>
            <a:r>
              <a:rPr lang="en-US" sz="2000" b="1" dirty="0">
                <a:solidFill>
                  <a:schemeClr val="bg1"/>
                </a:solidFill>
              </a:rPr>
              <a:t>시연 영상 (2분 30초)</a:t>
            </a:r>
            <a:endParaRPr lang="en-US" sz="2000" dirty="0"/>
          </a:p>
        </p:txBody>
      </p:sp>
      <p:sp>
        <p:nvSpPr>
          <p:cNvPr id="33" name="Text 31"/>
          <p:cNvSpPr txBox="1"/>
          <p:nvPr/>
        </p:nvSpPr>
        <p:spPr>
          <a:xfrm>
            <a:off x="548640" y="6053328"/>
            <a:ext cx="11064240" cy="292608"/>
          </a:xfrm>
          <a:prstGeom prst="rect">
            <a:avLst/>
          </a:prstGeom>
          <a:noFill/>
          <a:ln/>
        </p:spPr>
        <p:txBody>
          <a:bodyPr wrap="square" lIns="0" tIns="0" rIns="0" bIns="0" rtlCol="0" anchor="t"/>
          <a:lstStyle/>
          <a:p>
            <a:pPr indent="0" marL="0">
              <a:buNone/>
            </a:pPr>
            <a:r>
              <a:rPr lang="en-US" sz="1200" dirty="0">
                <a:solidFill>
                  <a:schemeClr val="accent5"/>
                </a:solidFill>
              </a:rPr>
              <a:t>화면 오른쪽 "에이전트 작업 기록"에서 어떤 도구를 왜 불렀는지 볼 수 있습니다</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급한 상황은 창구 먼저, 개인정보는 받지 않는다</a:t>
            </a:r>
            <a:endParaRPr lang="en-US" sz="3000" dirty="0"/>
          </a:p>
        </p:txBody>
      </p:sp>
      <p:sp>
        <p:nvSpPr>
          <p:cNvPr id="3" name="crisis"/>
          <p:cNvSpPr/>
          <p:nvPr/>
        </p:nvSpPr>
        <p:spPr>
          <a:xfrm>
            <a:off x="548640" y="1325880"/>
            <a:ext cx="5669280" cy="1828800"/>
          </a:xfrm>
          <a:prstGeom prst="roundRect">
            <a:avLst>
              <a:gd name="adj" fmla="val 4000"/>
            </a:avLst>
          </a:prstGeom>
          <a:solidFill>
            <a:schemeClr val="bg2"/>
          </a:solidFill>
          <a:ln w="9525">
            <a:solidFill>
              <a:schemeClr val="bg2"/>
            </a:solidFill>
            <a:prstDash val="solid"/>
          </a:ln>
        </p:spPr>
      </p:sp>
      <p:sp>
        <p:nvSpPr>
          <p:cNvPr id="4" name="Text 2"/>
          <p:cNvSpPr txBox="1"/>
          <p:nvPr/>
        </p:nvSpPr>
        <p:spPr>
          <a:xfrm>
            <a:off x="777240" y="1463040"/>
            <a:ext cx="5303520" cy="411480"/>
          </a:xfrm>
          <a:prstGeom prst="rect">
            <a:avLst/>
          </a:prstGeom>
          <a:noFill/>
          <a:ln/>
        </p:spPr>
        <p:txBody>
          <a:bodyPr wrap="square" lIns="0" tIns="0" rIns="0" bIns="0" rtlCol="0" anchor="t"/>
          <a:lstStyle/>
          <a:p>
            <a:pPr indent="0" marL="0">
              <a:buNone/>
            </a:pPr>
            <a:r>
              <a:rPr lang="en-US" sz="1600" b="1" dirty="0">
                <a:solidFill>
                  <a:schemeClr val="tx1"/>
                </a:solidFill>
              </a:rPr>
              <a:t>"사장님이 석 달째 다음 달에 준다고만 해요"</a:t>
            </a:r>
            <a:endParaRPr lang="en-US" sz="1600" dirty="0"/>
          </a:p>
        </p:txBody>
      </p:sp>
      <p:sp>
        <p:nvSpPr>
          <p:cNvPr id="5" name="hotline"/>
          <p:cNvSpPr/>
          <p:nvPr/>
        </p:nvSpPr>
        <p:spPr>
          <a:xfrm>
            <a:off x="777240" y="2011680"/>
            <a:ext cx="1645920" cy="868680"/>
          </a:xfrm>
          <a:prstGeom prst="roundRect">
            <a:avLst>
              <a:gd name="adj" fmla="val 8421"/>
            </a:avLst>
          </a:prstGeom>
          <a:solidFill>
            <a:schemeClr val="accent4"/>
          </a:solidFill>
          <a:ln w="15875">
            <a:solidFill>
              <a:schemeClr val="accent4"/>
            </a:solidFill>
            <a:prstDash val="solid"/>
          </a:ln>
        </p:spPr>
      </p:sp>
      <p:sp>
        <p:nvSpPr>
          <p:cNvPr id="6" name="Text 4"/>
          <p:cNvSpPr txBox="1"/>
          <p:nvPr/>
        </p:nvSpPr>
        <p:spPr>
          <a:xfrm>
            <a:off x="777240" y="2011680"/>
            <a:ext cx="1645920" cy="868680"/>
          </a:xfrm>
          <a:prstGeom prst="rect">
            <a:avLst/>
          </a:prstGeom>
          <a:noFill/>
          <a:ln/>
        </p:spPr>
        <p:txBody>
          <a:bodyPr wrap="square" lIns="0" tIns="0" rIns="0" bIns="0" rtlCol="0" anchor="ctr"/>
          <a:lstStyle/>
          <a:p>
            <a:pPr algn="ctr" indent="0" marL="0">
              <a:buNone/>
            </a:pPr>
            <a:r>
              <a:rPr lang="en-US" sz="1500" b="1" dirty="0">
                <a:solidFill>
                  <a:schemeClr val="bg1"/>
                </a:solidFill>
              </a:rPr>
              <a:t>1350</a:t>
            </a:r>
            <a:endParaRPr lang="en-US" sz="1500" dirty="0"/>
          </a:p>
          <a:p>
            <a:pPr algn="ctr" indent="0" marL="0">
              <a:buNone/>
            </a:pPr>
            <a:r>
              <a:rPr lang="en-US" sz="1100" dirty="0">
                <a:solidFill>
                  <a:schemeClr val="bg1"/>
                </a:solidFill>
              </a:rPr>
              <a:t>고용노동부</a:t>
            </a:r>
            <a:endParaRPr lang="en-US" sz="1500" dirty="0"/>
          </a:p>
        </p:txBody>
      </p:sp>
      <p:sp>
        <p:nvSpPr>
          <p:cNvPr id="7" name="hotline"/>
          <p:cNvSpPr/>
          <p:nvPr/>
        </p:nvSpPr>
        <p:spPr>
          <a:xfrm>
            <a:off x="2514600" y="2011680"/>
            <a:ext cx="1645920" cy="868680"/>
          </a:xfrm>
          <a:prstGeom prst="roundRect">
            <a:avLst>
              <a:gd name="adj" fmla="val 8421"/>
            </a:avLst>
          </a:prstGeom>
          <a:solidFill>
            <a:schemeClr val="bg1"/>
          </a:solidFill>
          <a:ln w="15875">
            <a:solidFill>
              <a:schemeClr val="accent4"/>
            </a:solidFill>
            <a:prstDash val="solid"/>
          </a:ln>
        </p:spPr>
      </p:sp>
      <p:sp>
        <p:nvSpPr>
          <p:cNvPr id="8" name="Text 6"/>
          <p:cNvSpPr txBox="1"/>
          <p:nvPr/>
        </p:nvSpPr>
        <p:spPr>
          <a:xfrm>
            <a:off x="2514600" y="2011680"/>
            <a:ext cx="1645920" cy="868680"/>
          </a:xfrm>
          <a:prstGeom prst="rect">
            <a:avLst/>
          </a:prstGeom>
          <a:noFill/>
          <a:ln/>
        </p:spPr>
        <p:txBody>
          <a:bodyPr wrap="square" lIns="0" tIns="0" rIns="0" bIns="0" rtlCol="0" anchor="ctr"/>
          <a:lstStyle/>
          <a:p>
            <a:pPr algn="ctr" indent="0" marL="0">
              <a:buNone/>
            </a:pPr>
            <a:r>
              <a:rPr lang="en-US" sz="1500" b="1" dirty="0">
                <a:solidFill>
                  <a:schemeClr val="accent4"/>
                </a:solidFill>
              </a:rPr>
              <a:t>1644-0644</a:t>
            </a:r>
            <a:endParaRPr lang="en-US" sz="1500" dirty="0"/>
          </a:p>
          <a:p>
            <a:pPr algn="ctr" indent="0" marL="0">
              <a:buNone/>
            </a:pPr>
            <a:r>
              <a:rPr lang="en-US" sz="1100" dirty="0">
                <a:solidFill>
                  <a:schemeClr val="accent4"/>
                </a:solidFill>
              </a:rPr>
              <a:t>이주노동자 헬프라인</a:t>
            </a:r>
            <a:endParaRPr lang="en-US" sz="1500" dirty="0"/>
          </a:p>
        </p:txBody>
      </p:sp>
      <p:sp>
        <p:nvSpPr>
          <p:cNvPr id="9" name="crisis"/>
          <p:cNvSpPr/>
          <p:nvPr/>
        </p:nvSpPr>
        <p:spPr>
          <a:xfrm>
            <a:off x="548640" y="3337560"/>
            <a:ext cx="5669280" cy="1828800"/>
          </a:xfrm>
          <a:prstGeom prst="roundRect">
            <a:avLst>
              <a:gd name="adj" fmla="val 4000"/>
            </a:avLst>
          </a:prstGeom>
          <a:solidFill>
            <a:schemeClr val="bg2"/>
          </a:solidFill>
          <a:ln w="9525">
            <a:solidFill>
              <a:schemeClr val="bg2"/>
            </a:solidFill>
            <a:prstDash val="solid"/>
          </a:ln>
        </p:spPr>
      </p:sp>
      <p:sp>
        <p:nvSpPr>
          <p:cNvPr id="10" name="Text 8"/>
          <p:cNvSpPr txBox="1"/>
          <p:nvPr/>
        </p:nvSpPr>
        <p:spPr>
          <a:xfrm>
            <a:off x="777240" y="3474720"/>
            <a:ext cx="5303520" cy="411480"/>
          </a:xfrm>
          <a:prstGeom prst="rect">
            <a:avLst/>
          </a:prstGeom>
          <a:noFill/>
          <a:ln/>
        </p:spPr>
        <p:txBody>
          <a:bodyPr wrap="square" lIns="0" tIns="0" rIns="0" bIns="0" rtlCol="0" anchor="t"/>
          <a:lstStyle/>
          <a:p>
            <a:pPr indent="0" marL="0">
              <a:buNone/>
            </a:pPr>
            <a:r>
              <a:rPr lang="en-US" sz="1600" b="1" dirty="0">
                <a:solidFill>
                  <a:schemeClr val="tx1"/>
                </a:solidFill>
              </a:rPr>
              <a:t>"남편이 때려서 집에 못 들어가겠어요"</a:t>
            </a:r>
            <a:endParaRPr lang="en-US" sz="1600" dirty="0"/>
          </a:p>
        </p:txBody>
      </p:sp>
      <p:sp>
        <p:nvSpPr>
          <p:cNvPr id="11" name="hotline"/>
          <p:cNvSpPr/>
          <p:nvPr/>
        </p:nvSpPr>
        <p:spPr>
          <a:xfrm>
            <a:off x="777240" y="4023360"/>
            <a:ext cx="1645920" cy="868680"/>
          </a:xfrm>
          <a:prstGeom prst="roundRect">
            <a:avLst>
              <a:gd name="adj" fmla="val 8421"/>
            </a:avLst>
          </a:prstGeom>
          <a:solidFill>
            <a:schemeClr val="accent4"/>
          </a:solidFill>
          <a:ln w="15875">
            <a:solidFill>
              <a:schemeClr val="accent4"/>
            </a:solidFill>
            <a:prstDash val="solid"/>
          </a:ln>
        </p:spPr>
      </p:sp>
      <p:sp>
        <p:nvSpPr>
          <p:cNvPr id="12" name="Text 10"/>
          <p:cNvSpPr txBox="1"/>
          <p:nvPr/>
        </p:nvSpPr>
        <p:spPr>
          <a:xfrm>
            <a:off x="777240" y="4023360"/>
            <a:ext cx="1645920" cy="868680"/>
          </a:xfrm>
          <a:prstGeom prst="rect">
            <a:avLst/>
          </a:prstGeom>
          <a:noFill/>
          <a:ln/>
        </p:spPr>
        <p:txBody>
          <a:bodyPr wrap="square" lIns="0" tIns="0" rIns="0" bIns="0" rtlCol="0" anchor="ctr"/>
          <a:lstStyle/>
          <a:p>
            <a:pPr algn="ctr" indent="0" marL="0">
              <a:buNone/>
            </a:pPr>
            <a:r>
              <a:rPr lang="en-US" sz="1500" b="1" dirty="0">
                <a:solidFill>
                  <a:schemeClr val="bg1"/>
                </a:solidFill>
              </a:rPr>
              <a:t>112</a:t>
            </a:r>
            <a:endParaRPr lang="en-US" sz="1500" dirty="0"/>
          </a:p>
          <a:p>
            <a:pPr algn="ctr" indent="0" marL="0">
              <a:buNone/>
            </a:pPr>
            <a:r>
              <a:rPr lang="en-US" sz="1100" dirty="0">
                <a:solidFill>
                  <a:schemeClr val="bg1"/>
                </a:solidFill>
              </a:rPr>
              <a:t>경찰</a:t>
            </a:r>
            <a:endParaRPr lang="en-US" sz="1500" dirty="0"/>
          </a:p>
        </p:txBody>
      </p:sp>
      <p:sp>
        <p:nvSpPr>
          <p:cNvPr id="13" name="hotline"/>
          <p:cNvSpPr/>
          <p:nvPr/>
        </p:nvSpPr>
        <p:spPr>
          <a:xfrm>
            <a:off x="2514600" y="4023360"/>
            <a:ext cx="1645920" cy="868680"/>
          </a:xfrm>
          <a:prstGeom prst="roundRect">
            <a:avLst>
              <a:gd name="adj" fmla="val 8421"/>
            </a:avLst>
          </a:prstGeom>
          <a:solidFill>
            <a:schemeClr val="bg1"/>
          </a:solidFill>
          <a:ln w="15875">
            <a:solidFill>
              <a:schemeClr val="accent4"/>
            </a:solidFill>
            <a:prstDash val="solid"/>
          </a:ln>
        </p:spPr>
      </p:sp>
      <p:sp>
        <p:nvSpPr>
          <p:cNvPr id="14" name="Text 12"/>
          <p:cNvSpPr txBox="1"/>
          <p:nvPr/>
        </p:nvSpPr>
        <p:spPr>
          <a:xfrm>
            <a:off x="2514600" y="4023360"/>
            <a:ext cx="1645920" cy="868680"/>
          </a:xfrm>
          <a:prstGeom prst="rect">
            <a:avLst/>
          </a:prstGeom>
          <a:noFill/>
          <a:ln/>
        </p:spPr>
        <p:txBody>
          <a:bodyPr wrap="square" lIns="0" tIns="0" rIns="0" bIns="0" rtlCol="0" anchor="ctr"/>
          <a:lstStyle/>
          <a:p>
            <a:pPr algn="ctr" indent="0" marL="0">
              <a:buNone/>
            </a:pPr>
            <a:r>
              <a:rPr lang="en-US" sz="1500" b="1" dirty="0">
                <a:solidFill>
                  <a:schemeClr val="accent4"/>
                </a:solidFill>
              </a:rPr>
              <a:t>1366</a:t>
            </a:r>
            <a:endParaRPr lang="en-US" sz="1500" dirty="0"/>
          </a:p>
          <a:p>
            <a:pPr algn="ctr" indent="0" marL="0">
              <a:buNone/>
            </a:pPr>
            <a:r>
              <a:rPr lang="en-US" sz="1100" dirty="0">
                <a:solidFill>
                  <a:schemeClr val="accent4"/>
                </a:solidFill>
              </a:rPr>
              <a:t>여성긴급전화</a:t>
            </a:r>
            <a:endParaRPr lang="en-US" sz="1500" dirty="0"/>
          </a:p>
        </p:txBody>
      </p:sp>
      <p:sp>
        <p:nvSpPr>
          <p:cNvPr id="15" name="hotline"/>
          <p:cNvSpPr/>
          <p:nvPr/>
        </p:nvSpPr>
        <p:spPr>
          <a:xfrm>
            <a:off x="4251960" y="4023360"/>
            <a:ext cx="1645920" cy="868680"/>
          </a:xfrm>
          <a:prstGeom prst="roundRect">
            <a:avLst>
              <a:gd name="adj" fmla="val 8421"/>
            </a:avLst>
          </a:prstGeom>
          <a:solidFill>
            <a:schemeClr val="bg1"/>
          </a:solidFill>
          <a:ln w="15875">
            <a:solidFill>
              <a:schemeClr val="accent4"/>
            </a:solidFill>
            <a:prstDash val="solid"/>
          </a:ln>
        </p:spPr>
      </p:sp>
      <p:sp>
        <p:nvSpPr>
          <p:cNvPr id="16" name="Text 14"/>
          <p:cNvSpPr txBox="1"/>
          <p:nvPr/>
        </p:nvSpPr>
        <p:spPr>
          <a:xfrm>
            <a:off x="4251960" y="4023360"/>
            <a:ext cx="1645920" cy="868680"/>
          </a:xfrm>
          <a:prstGeom prst="rect">
            <a:avLst/>
          </a:prstGeom>
          <a:noFill/>
          <a:ln/>
        </p:spPr>
        <p:txBody>
          <a:bodyPr wrap="square" lIns="0" tIns="0" rIns="0" bIns="0" rtlCol="0" anchor="ctr"/>
          <a:lstStyle/>
          <a:p>
            <a:pPr algn="ctr" indent="0" marL="0">
              <a:buNone/>
            </a:pPr>
            <a:r>
              <a:rPr lang="en-US" sz="1500" b="1" dirty="0">
                <a:solidFill>
                  <a:schemeClr val="accent4"/>
                </a:solidFill>
              </a:rPr>
              <a:t>1577-1366</a:t>
            </a:r>
            <a:endParaRPr lang="en-US" sz="1500" dirty="0"/>
          </a:p>
          <a:p>
            <a:pPr algn="ctr" indent="0" marL="0">
              <a:buNone/>
            </a:pPr>
            <a:r>
              <a:rPr lang="en-US" sz="1100" dirty="0">
                <a:solidFill>
                  <a:schemeClr val="accent4"/>
                </a:solidFill>
              </a:rPr>
              <a:t>다누리</a:t>
            </a:r>
            <a:endParaRPr lang="en-US" sz="1500" dirty="0"/>
          </a:p>
        </p:txBody>
      </p:sp>
      <p:sp>
        <p:nvSpPr>
          <p:cNvPr id="17" name="Text 15"/>
          <p:cNvSpPr txBox="1"/>
          <p:nvPr/>
        </p:nvSpPr>
        <p:spPr>
          <a:xfrm>
            <a:off x="548640" y="5440680"/>
            <a:ext cx="5669280" cy="594360"/>
          </a:xfrm>
          <a:prstGeom prst="rect">
            <a:avLst/>
          </a:prstGeom>
          <a:noFill/>
          <a:ln/>
        </p:spPr>
        <p:txBody>
          <a:bodyPr wrap="square" lIns="0" tIns="0" rIns="0" bIns="0" rtlCol="0" anchor="t"/>
          <a:lstStyle/>
          <a:p>
            <a:pPr indent="0" marL="0">
              <a:buNone/>
            </a:pPr>
            <a:r>
              <a:rPr lang="en-US" sz="1300" dirty="0">
                <a:solidFill>
                  <a:schemeClr val="accent5"/>
                </a:solidFill>
              </a:rPr>
              <a:t>지원사업보다 먼저 보여 주고, 카드를 누르면 준비할 것 · 전화로 할 말 · 다음 단계를 안내</a:t>
            </a:r>
            <a:endParaRPr lang="en-US" sz="1300" dirty="0"/>
          </a:p>
        </p:txBody>
      </p:sp>
      <p:sp>
        <p:nvSpPr>
          <p:cNvPr id="18" name="safety"/>
          <p:cNvSpPr/>
          <p:nvPr/>
        </p:nvSpPr>
        <p:spPr>
          <a:xfrm>
            <a:off x="6492240" y="1325880"/>
            <a:ext cx="5120640" cy="1463040"/>
          </a:xfrm>
          <a:prstGeom prst="roundRect">
            <a:avLst>
              <a:gd name="adj" fmla="val 5000"/>
            </a:avLst>
          </a:prstGeom>
          <a:solidFill>
            <a:schemeClr val="bg2"/>
          </a:solidFill>
          <a:ln w="9525">
            <a:solidFill>
              <a:schemeClr val="bg2"/>
            </a:solidFill>
            <a:prstDash val="solid"/>
          </a:ln>
        </p:spPr>
      </p:sp>
      <p:sp>
        <p:nvSpPr>
          <p:cNvPr id="19" name="Text 17"/>
          <p:cNvSpPr txBox="1"/>
          <p:nvPr/>
        </p:nvSpPr>
        <p:spPr>
          <a:xfrm>
            <a:off x="6720840" y="1435608"/>
            <a:ext cx="4663440" cy="347472"/>
          </a:xfrm>
          <a:prstGeom prst="rect">
            <a:avLst/>
          </a:prstGeom>
          <a:noFill/>
          <a:ln/>
        </p:spPr>
        <p:txBody>
          <a:bodyPr wrap="square" lIns="0" tIns="0" rIns="0" bIns="0" rtlCol="0" anchor="t"/>
          <a:lstStyle/>
          <a:p>
            <a:pPr indent="0" marL="0">
              <a:buNone/>
            </a:pPr>
            <a:r>
              <a:rPr lang="en-US" sz="1500" b="1" dirty="0">
                <a:solidFill>
                  <a:schemeClr val="accent1"/>
                </a:solidFill>
              </a:rPr>
              <a:t>데이터·저작권</a:t>
            </a:r>
            <a:endParaRPr lang="en-US" sz="1500" dirty="0"/>
          </a:p>
        </p:txBody>
      </p:sp>
      <p:sp>
        <p:nvSpPr>
          <p:cNvPr id="20" name="Text 18"/>
          <p:cNvSpPr txBox="1"/>
          <p:nvPr/>
        </p:nvSpPr>
        <p:spPr>
          <a:xfrm>
            <a:off x="6720840" y="1801368"/>
            <a:ext cx="4709160" cy="932688"/>
          </a:xfrm>
          <a:prstGeom prst="rect">
            <a:avLst/>
          </a:prstGeom>
          <a:noFill/>
          <a:ln/>
        </p:spPr>
        <p:txBody>
          <a:bodyPr wrap="square" lIns="0" tIns="0" rIns="0" bIns="0" rtlCol="0" anchor="t"/>
          <a:lstStyle/>
          <a:p>
            <a:pPr marL="177800" indent="-177800">
              <a:spcAft>
                <a:spcPts val="300"/>
              </a:spcAft>
              <a:buSzPct val="100000"/>
              <a:buChar char="•"/>
            </a:pPr>
            <a:r>
              <a:rPr lang="en-US" sz="1350" dirty="0">
                <a:solidFill>
                  <a:srgbClr val="1B2B34"/>
                </a:solidFill>
              </a:rPr>
              <a:t>사업 26건·창구 8곳 모두 출처 URL·확인일</a:t>
            </a:r>
            <a:endParaRPr lang="en-US" sz="1500" dirty="0"/>
          </a:p>
          <a:p>
            <a:pPr marL="177800" indent="-177800">
              <a:spcAft>
                <a:spcPts val="300"/>
              </a:spcAft>
              <a:buSzPct val="100000"/>
              <a:buChar char="•"/>
            </a:pPr>
            <a:r>
              <a:rPr lang="en-US" sz="1350" dirty="0">
                <a:solidFill>
                  <a:srgbClr val="1B2B34"/>
                </a:solidFill>
              </a:rPr>
              <a:t>기관 서식을 베끼지 않고 공통 항목 표만</a:t>
            </a:r>
            <a:endParaRPr lang="en-US" sz="1500" dirty="0"/>
          </a:p>
        </p:txBody>
      </p:sp>
      <p:sp>
        <p:nvSpPr>
          <p:cNvPr id="21" name="safety"/>
          <p:cNvSpPr/>
          <p:nvPr/>
        </p:nvSpPr>
        <p:spPr>
          <a:xfrm>
            <a:off x="6492240" y="2926080"/>
            <a:ext cx="5120640" cy="1463040"/>
          </a:xfrm>
          <a:prstGeom prst="roundRect">
            <a:avLst>
              <a:gd name="adj" fmla="val 5000"/>
            </a:avLst>
          </a:prstGeom>
          <a:solidFill>
            <a:schemeClr val="tx2"/>
          </a:solidFill>
          <a:ln w="9525">
            <a:solidFill>
              <a:schemeClr val="tx2"/>
            </a:solidFill>
            <a:prstDash val="solid"/>
          </a:ln>
        </p:spPr>
      </p:sp>
      <p:sp>
        <p:nvSpPr>
          <p:cNvPr id="22" name="Text 20"/>
          <p:cNvSpPr txBox="1"/>
          <p:nvPr/>
        </p:nvSpPr>
        <p:spPr>
          <a:xfrm>
            <a:off x="6720840" y="3035808"/>
            <a:ext cx="4663440" cy="347472"/>
          </a:xfrm>
          <a:prstGeom prst="rect">
            <a:avLst/>
          </a:prstGeom>
          <a:noFill/>
          <a:ln/>
        </p:spPr>
        <p:txBody>
          <a:bodyPr wrap="square" lIns="0" tIns="0" rIns="0" bIns="0" rtlCol="0" anchor="t"/>
          <a:lstStyle/>
          <a:p>
            <a:pPr indent="0" marL="0">
              <a:buNone/>
            </a:pPr>
            <a:r>
              <a:rPr lang="en-US" sz="1500" b="1" dirty="0">
                <a:solidFill>
                  <a:schemeClr val="accent6"/>
                </a:solidFill>
              </a:rPr>
              <a:t>개인정보·보안</a:t>
            </a:r>
            <a:endParaRPr lang="en-US" sz="1500" dirty="0"/>
          </a:p>
        </p:txBody>
      </p:sp>
      <p:sp>
        <p:nvSpPr>
          <p:cNvPr id="23" name="Text 21"/>
          <p:cNvSpPr txBox="1"/>
          <p:nvPr/>
        </p:nvSpPr>
        <p:spPr>
          <a:xfrm>
            <a:off x="6720840" y="3401568"/>
            <a:ext cx="4709160" cy="932688"/>
          </a:xfrm>
          <a:prstGeom prst="rect">
            <a:avLst/>
          </a:prstGeom>
          <a:noFill/>
          <a:ln/>
        </p:spPr>
        <p:txBody>
          <a:bodyPr wrap="square" lIns="0" tIns="0" rIns="0" bIns="0" rtlCol="0" anchor="t"/>
          <a:lstStyle/>
          <a:p>
            <a:pPr marL="177800" indent="-177800">
              <a:spcAft>
                <a:spcPts val="300"/>
              </a:spcAft>
              <a:buSzPct val="100000"/>
              <a:buChar char="•"/>
            </a:pPr>
            <a:r>
              <a:rPr lang="en-US" sz="1350" dirty="0">
                <a:solidFill>
                  <a:srgbClr val="FFFFFF"/>
                </a:solidFill>
              </a:rPr>
              <a:t>외국인등록번호·여권·계좌번호 저장 전 자동 삭제 (개인정보 보호법 제24조)</a:t>
            </a:r>
            <a:endParaRPr lang="en-US" sz="1500" dirty="0"/>
          </a:p>
          <a:p>
            <a:pPr marL="177800" indent="-177800">
              <a:spcAft>
                <a:spcPts val="300"/>
              </a:spcAft>
              <a:buSzPct val="100000"/>
              <a:buChar char="•"/>
            </a:pPr>
            <a:r>
              <a:rPr lang="en-US" sz="1350" dirty="0">
                <a:solidFill>
                  <a:srgbClr val="FFFFFF"/>
                </a:solidFill>
              </a:rPr>
              <a:t>연락처는 묻지 않음, '처음부터'로 전부 삭제, API 키는 .env 분리</a:t>
            </a:r>
            <a:endParaRPr lang="en-US" sz="1500" dirty="0"/>
          </a:p>
        </p:txBody>
      </p:sp>
      <p:sp>
        <p:nvSpPr>
          <p:cNvPr id="24" name="safety"/>
          <p:cNvSpPr/>
          <p:nvPr/>
        </p:nvSpPr>
        <p:spPr>
          <a:xfrm>
            <a:off x="6492240" y="4526280"/>
            <a:ext cx="5120640" cy="1463040"/>
          </a:xfrm>
          <a:prstGeom prst="roundRect">
            <a:avLst>
              <a:gd name="adj" fmla="val 5000"/>
            </a:avLst>
          </a:prstGeom>
          <a:solidFill>
            <a:schemeClr val="bg2"/>
          </a:solidFill>
          <a:ln w="9525">
            <a:solidFill>
              <a:schemeClr val="bg2"/>
            </a:solidFill>
            <a:prstDash val="solid"/>
          </a:ln>
        </p:spPr>
      </p:sp>
      <p:sp>
        <p:nvSpPr>
          <p:cNvPr id="25" name="Text 23"/>
          <p:cNvSpPr txBox="1"/>
          <p:nvPr/>
        </p:nvSpPr>
        <p:spPr>
          <a:xfrm>
            <a:off x="6720840" y="4636008"/>
            <a:ext cx="4663440" cy="347472"/>
          </a:xfrm>
          <a:prstGeom prst="rect">
            <a:avLst/>
          </a:prstGeom>
          <a:noFill/>
          <a:ln/>
        </p:spPr>
        <p:txBody>
          <a:bodyPr wrap="square" lIns="0" tIns="0" rIns="0" bIns="0" rtlCol="0" anchor="t"/>
          <a:lstStyle/>
          <a:p>
            <a:pPr indent="0" marL="0">
              <a:buNone/>
            </a:pPr>
            <a:r>
              <a:rPr lang="en-US" sz="1500" b="1" dirty="0">
                <a:solidFill>
                  <a:schemeClr val="accent1"/>
                </a:solidFill>
              </a:rPr>
              <a:t>AI 오류·편향 대책</a:t>
            </a:r>
            <a:endParaRPr lang="en-US" sz="1500" dirty="0"/>
          </a:p>
        </p:txBody>
      </p:sp>
      <p:sp>
        <p:nvSpPr>
          <p:cNvPr id="26" name="Text 24"/>
          <p:cNvSpPr txBox="1"/>
          <p:nvPr/>
        </p:nvSpPr>
        <p:spPr>
          <a:xfrm>
            <a:off x="6720840" y="5001768"/>
            <a:ext cx="4709160" cy="932688"/>
          </a:xfrm>
          <a:prstGeom prst="rect">
            <a:avLst/>
          </a:prstGeom>
          <a:noFill/>
          <a:ln/>
        </p:spPr>
        <p:txBody>
          <a:bodyPr wrap="square" lIns="0" tIns="0" rIns="0" bIns="0" rtlCol="0" anchor="t"/>
          <a:lstStyle/>
          <a:p>
            <a:pPr marL="177800" indent="-177800">
              <a:spcAft>
                <a:spcPts val="300"/>
              </a:spcAft>
              <a:buSzPct val="100000"/>
              <a:buChar char="•"/>
            </a:pPr>
            <a:r>
              <a:rPr lang="en-US" sz="1350" dirty="0">
                <a:solidFill>
                  <a:srgbClr val="1B2B34"/>
                </a:solidFill>
              </a:rPr>
              <a:t>모르는 칸은 비움, 법률·체류 판단은 공식 기관으로</a:t>
            </a:r>
            <a:endParaRPr lang="en-US" sz="1500" dirty="0"/>
          </a:p>
          <a:p>
            <a:pPr marL="177800" indent="-177800">
              <a:spcAft>
                <a:spcPts val="300"/>
              </a:spcAft>
              <a:buSzPct val="100000"/>
              <a:buChar char="•"/>
            </a:pPr>
            <a:r>
              <a:rPr lang="en-US" sz="1350" dirty="0">
                <a:solidFill>
                  <a:srgbClr val="1B2B34"/>
                </a:solidFill>
              </a:rPr>
              <a:t>제출은 대신하지 않음 — 초안만, 본인이 직접</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100문장 중 99개, 자동 테스트 89건 통과</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914400"/>
        </p:xfrm>
        <a:graphic>
          <a:graphicData uri="http://schemas.openxmlformats.org/drawingml/2006/table">
            <a:tbl>
              <a:tblPr/>
              <a:tblGrid>
                <a:gridCol w="2651760"/>
                <a:gridCol w="1097280"/>
                <a:gridCol w="1737360"/>
                <a:gridCol w="1737360"/>
              </a:tblGrid>
              <a:tr h="475488">
                <a:tc>
                  <a:txBody>
                    <a:bodyPr/>
                    <a:lstStyle/>
                    <a:p>
                      <a:pPr algn="l" indent="0" marL="0">
                        <a:buNone/>
                      </a:pPr>
                      <a:r>
                        <a:rPr lang="en-US" sz="1400" b="1" dirty="0">
                          <a:solidFill>
                            <a:srgbClr val="FFFFFF"/>
                          </a:solidFill>
                        </a:rPr>
                        <a:t>유형</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0E5E6F"/>
                    </a:solidFill>
                  </a:tcPr>
                </a:tc>
                <a:tc>
                  <a:txBody>
                    <a:bodyPr/>
                    <a:lstStyle/>
                    <a:p>
                      <a:pPr algn="ctr" indent="0" marL="0">
                        <a:buNone/>
                      </a:pPr>
                      <a:r>
                        <a:rPr lang="en-US" sz="1400" b="1" dirty="0">
                          <a:solidFill>
                            <a:srgbClr val="FFFFFF"/>
                          </a:solidFill>
                        </a:rPr>
                        <a:t>문항</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0E5E6F"/>
                    </a:solidFill>
                  </a:tcPr>
                </a:tc>
                <a:tc>
                  <a:txBody>
                    <a:bodyPr/>
                    <a:lstStyle/>
                    <a:p>
                      <a:pPr algn="ctr" indent="0" marL="0">
                        <a:buNone/>
                      </a:pPr>
                      <a:r>
                        <a:rPr lang="en-US" sz="1400" b="1" dirty="0">
                          <a:solidFill>
                            <a:srgbClr val="FFFFFF"/>
                          </a:solidFill>
                        </a:rPr>
                        <a:t>키워드 방식</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0E5E6F"/>
                    </a:solidFill>
                  </a:tcPr>
                </a:tc>
                <a:tc>
                  <a:txBody>
                    <a:bodyPr/>
                    <a:lstStyle/>
                    <a:p>
                      <a:pPr algn="ctr" indent="0" marL="0">
                        <a:buNone/>
                      </a:pPr>
                      <a:r>
                        <a:rPr lang="en-US" sz="1400" b="1" dirty="0">
                          <a:solidFill>
                            <a:srgbClr val="FFFFFF"/>
                          </a:solidFill>
                        </a:rPr>
                        <a:t>우리 에이전트</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0E5E6F"/>
                    </a:solidFill>
                  </a:tcPr>
                </a:tc>
              </a:tr>
              <a:tr h="475488">
                <a:tc>
                  <a:txBody>
                    <a:bodyPr/>
                    <a:lstStyle/>
                    <a:p>
                      <a:pPr algn="l" indent="0" marL="0">
                        <a:buNone/>
                      </a:pPr>
                      <a:r>
                        <a:rPr lang="en-US" sz="1400" dirty="0">
                          <a:solidFill>
                            <a:srgbClr val="1B2B34"/>
                          </a:solidFill>
                        </a:rPr>
                        <a:t>돌려 말한 표현</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4"/>
                          </a:solidFill>
                        </a:rPr>
                        <a:t>40</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7B88"/>
                          </a:solidFill>
                        </a:rPr>
                        <a:t>22</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5E6F"/>
                          </a:solidFill>
                        </a:rPr>
                        <a:t>40</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r>
              <a:tr h="475488">
                <a:tc>
                  <a:txBody>
                    <a:bodyPr/>
                    <a:lstStyle/>
                    <a:p>
                      <a:pPr algn="l" indent="0" marL="0">
                        <a:buNone/>
                      </a:pPr>
                      <a:r>
                        <a:rPr lang="en-US" sz="1400" dirty="0">
                          <a:solidFill>
                            <a:srgbClr val="1B2B34"/>
                          </a:solidFill>
                        </a:rPr>
                        <a:t>여러 번 나눠 말함</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4"/>
                          </a:solidFill>
                        </a:rPr>
                        <a:t>20</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7B88"/>
                          </a:solidFill>
                        </a:rPr>
                        <a:t>14</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5E6F"/>
                          </a:solidFill>
                        </a:rPr>
                        <a:t>20</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r>
              <a:tr h="475488">
                <a:tc>
                  <a:txBody>
                    <a:bodyPr/>
                    <a:lstStyle/>
                    <a:p>
                      <a:pPr algn="l" indent="0" marL="0">
                        <a:buNone/>
                      </a:pPr>
                      <a:r>
                        <a:rPr lang="en-US" sz="1400" dirty="0">
                          <a:solidFill>
                            <a:srgbClr val="1B2B34"/>
                          </a:solidFill>
                        </a:rPr>
                        <a:t>함정 · 부정</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4"/>
                          </a:solidFill>
                        </a:rPr>
                        <a:t>20</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7B88"/>
                          </a:solidFill>
                        </a:rPr>
                        <a:t>8</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5E6F"/>
                          </a:solidFill>
                        </a:rPr>
                        <a:t>19</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r>
              <a:tr h="475488">
                <a:tc>
                  <a:txBody>
                    <a:bodyPr/>
                    <a:lstStyle/>
                    <a:p>
                      <a:pPr algn="l" indent="0" marL="0">
                        <a:buNone/>
                      </a:pPr>
                      <a:r>
                        <a:rPr lang="en-US" sz="1400" dirty="0">
                          <a:solidFill>
                            <a:srgbClr val="1B2B34"/>
                          </a:solidFill>
                        </a:rPr>
                        <a:t>다른 언어</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4"/>
                          </a:solidFill>
                        </a:rPr>
                        <a:t>10</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7B88"/>
                          </a:solidFill>
                        </a:rPr>
                        <a:t>6</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5E6F"/>
                          </a:solidFill>
                        </a:rPr>
                        <a:t>10</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r>
              <a:tr h="475488">
                <a:tc>
                  <a:txBody>
                    <a:bodyPr/>
                    <a:lstStyle/>
                    <a:p>
                      <a:pPr algn="l" indent="0" marL="0">
                        <a:buNone/>
                      </a:pPr>
                      <a:r>
                        <a:rPr lang="en-US" sz="1400" dirty="0">
                          <a:solidFill>
                            <a:srgbClr val="1B2B34"/>
                          </a:solidFill>
                        </a:rPr>
                        <a:t>도움 필요 없음</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4"/>
                          </a:solidFill>
                        </a:rPr>
                        <a:t>10</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7B88"/>
                          </a:solidFill>
                        </a:rPr>
                        <a:t>9</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5E6F"/>
                          </a:solidFill>
                        </a:rPr>
                        <a:t>10</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FFFFFF"/>
                    </a:solidFill>
                  </a:tcPr>
                </a:tc>
              </a:tr>
              <a:tr h="475488">
                <a:tc>
                  <a:txBody>
                    <a:bodyPr/>
                    <a:lstStyle/>
                    <a:p>
                      <a:pPr algn="l" indent="0" marL="0">
                        <a:buNone/>
                      </a:pPr>
                      <a:r>
                        <a:rPr lang="en-US" sz="1400" b="1" dirty="0">
                          <a:solidFill>
                            <a:srgbClr val="1B2B34"/>
                          </a:solidFill>
                        </a:rPr>
                        <a:t>전체</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EAF2F3"/>
                    </a:solidFill>
                  </a:tcPr>
                </a:tc>
                <a:tc>
                  <a:txBody>
                    <a:bodyPr/>
                    <a:lstStyle/>
                    <a:p>
                      <a:pPr algn="ctr" indent="0" marL="0">
                        <a:buNone/>
                      </a:pPr>
                      <a:r>
                        <a:rPr lang="en-US" sz="1400" b="1" dirty="0">
                          <a:solidFill>
                            <a:srgbClr val="1B2B34"/>
                          </a:solidFill>
                        </a:rPr>
                        <a:t>100</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EAF2F3"/>
                    </a:solidFill>
                  </a:tcPr>
                </a:tc>
                <a:tc>
                  <a:txBody>
                    <a:bodyPr/>
                    <a:lstStyle/>
                    <a:p>
                      <a:pPr algn="ctr" indent="0" marL="0">
                        <a:buNone/>
                      </a:pPr>
                      <a:r>
                        <a:rPr lang="en-US" sz="1400" b="1" dirty="0">
                          <a:solidFill>
                            <a:srgbClr val="6B7B88"/>
                          </a:solidFill>
                        </a:rPr>
                        <a:t>59</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EAF2F3"/>
                    </a:solidFill>
                  </a:tcPr>
                </a:tc>
                <a:tc>
                  <a:txBody>
                    <a:bodyPr/>
                    <a:lstStyle/>
                    <a:p>
                      <a:pPr algn="ctr" indent="0" marL="0">
                        <a:buNone/>
                      </a:pPr>
                      <a:r>
                        <a:rPr lang="en-US" sz="1400" b="1" dirty="0">
                          <a:solidFill>
                            <a:srgbClr val="0E5E6F"/>
                          </a:solidFill>
                        </a:rPr>
                        <a:t>99</a:t>
                      </a:r>
                      <a:endParaRPr lang="en-US" sz="14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rgbClr val="EAF2F3"/>
                    </a:solidFill>
                  </a:tcPr>
                </a:tc>
              </a:tr>
            </a:tbl>
          </a:graphicData>
        </a:graphic>
      </p:graphicFrame>
      <p:sp>
        <p:nvSpPr>
          <p:cNvPr id="4" name="Text 1"/>
          <p:cNvSpPr txBox="1"/>
          <p:nvPr/>
        </p:nvSpPr>
        <p:spPr>
          <a:xfrm>
            <a:off x="548640" y="4754880"/>
            <a:ext cx="7223760" cy="320040"/>
          </a:xfrm>
          <a:prstGeom prst="rect">
            <a:avLst/>
          </a:prstGeom>
          <a:noFill/>
          <a:ln/>
        </p:spPr>
        <p:txBody>
          <a:bodyPr wrap="square" lIns="0" tIns="0" rIns="0" bIns="0" rtlCol="0" anchor="t"/>
          <a:lstStyle/>
          <a:p>
            <a:pPr indent="0" marL="0">
              <a:buNone/>
            </a:pPr>
            <a:r>
              <a:rPr lang="en-US" sz="1200" dirty="0">
                <a:solidFill>
                  <a:schemeClr val="accent5"/>
                </a:solidFill>
              </a:rPr>
              <a:t>같은 100문장, 같은 채점 기준으로 단어만 찾는 키워드 방식과 비교 (맞힌 문항 수)</a:t>
            </a:r>
            <a:endParaRPr lang="en-US" sz="1200" dirty="0"/>
          </a:p>
        </p:txBody>
      </p:sp>
      <p:sp>
        <p:nvSpPr>
          <p:cNvPr id="5" name="caveat"/>
          <p:cNvSpPr/>
          <p:nvPr/>
        </p:nvSpPr>
        <p:spPr>
          <a:xfrm>
            <a:off x="548640" y="5166360"/>
            <a:ext cx="7223760" cy="914400"/>
          </a:xfrm>
          <a:prstGeom prst="roundRect">
            <a:avLst>
              <a:gd name="adj" fmla="val 8000"/>
            </a:avLst>
          </a:prstGeom>
          <a:solidFill>
            <a:schemeClr val="bg1"/>
          </a:solidFill>
          <a:ln w="15875">
            <a:solidFill>
              <a:schemeClr val="accent2"/>
            </a:solidFill>
            <a:prstDash val="solid"/>
          </a:ln>
        </p:spPr>
      </p:sp>
      <p:sp>
        <p:nvSpPr>
          <p:cNvPr id="6" name="Text 3"/>
          <p:cNvSpPr txBox="1"/>
          <p:nvPr/>
        </p:nvSpPr>
        <p:spPr>
          <a:xfrm>
            <a:off x="777240" y="5166360"/>
            <a:ext cx="6812280" cy="914400"/>
          </a:xfrm>
          <a:prstGeom prst="rect">
            <a:avLst/>
          </a:prstGeom>
          <a:noFill/>
          <a:ln/>
        </p:spPr>
        <p:txBody>
          <a:bodyPr wrap="square" lIns="0" tIns="0" rIns="0" bIns="0" rtlCol="0" anchor="ctr"/>
          <a:lstStyle/>
          <a:p>
            <a:pPr indent="0" marL="0">
              <a:buNone/>
            </a:pPr>
            <a:r>
              <a:rPr lang="en-US" sz="1300" b="1" dirty="0">
                <a:solidFill>
                  <a:srgbClr val="E69A2E"/>
                </a:solidFill>
              </a:rPr>
              <a:t>한계도 그대로  </a:t>
            </a:r>
            <a:pPr indent="0" marL="0">
              <a:buNone/>
            </a:pPr>
            <a:r>
              <a:rPr lang="en-US" sz="1300" dirty="0">
                <a:solidFill>
                  <a:schemeClr val="tx1"/>
                </a:solidFill>
              </a:rPr>
              <a:t>프롬프트를 고칠 때 본 문장이라 높게 나왔을 수 있다 → 처음 보는 999문항 블라인드 세트로 재검증 준비 완료</a:t>
            </a:r>
            <a:endParaRPr lang="en-US" sz="1300" dirty="0"/>
          </a:p>
        </p:txBody>
      </p:sp>
      <p:sp>
        <p:nvSpPr>
          <p:cNvPr id="7" name="stat"/>
          <p:cNvSpPr/>
          <p:nvPr/>
        </p:nvSpPr>
        <p:spPr>
          <a:xfrm>
            <a:off x="8138160" y="1325880"/>
            <a:ext cx="3474720" cy="1463040"/>
          </a:xfrm>
          <a:prstGeom prst="roundRect">
            <a:avLst>
              <a:gd name="adj" fmla="val 5000"/>
            </a:avLst>
          </a:prstGeom>
          <a:solidFill>
            <a:schemeClr val="tx2"/>
          </a:solidFill>
          <a:ln w="9525">
            <a:solidFill>
              <a:schemeClr val="tx2"/>
            </a:solidFill>
            <a:prstDash val="solid"/>
          </a:ln>
        </p:spPr>
      </p:sp>
      <p:sp>
        <p:nvSpPr>
          <p:cNvPr id="8" name="Text 5"/>
          <p:cNvSpPr txBox="1"/>
          <p:nvPr/>
        </p:nvSpPr>
        <p:spPr>
          <a:xfrm>
            <a:off x="8366760" y="1435608"/>
            <a:ext cx="3108960" cy="685800"/>
          </a:xfrm>
          <a:prstGeom prst="rect">
            <a:avLst/>
          </a:prstGeom>
          <a:noFill/>
          <a:ln/>
        </p:spPr>
        <p:txBody>
          <a:bodyPr wrap="square" lIns="0" tIns="0" rIns="0" bIns="0" rtlCol="0" anchor="ctr"/>
          <a:lstStyle/>
          <a:p>
            <a:pPr indent="0" marL="0">
              <a:buNone/>
            </a:pPr>
            <a:r>
              <a:rPr lang="en-US" sz="3000" b="1" dirty="0">
                <a:solidFill>
                  <a:schemeClr val="bg1"/>
                </a:solidFill>
              </a:rPr>
              <a:t>89건</a:t>
            </a:r>
            <a:endParaRPr lang="en-US" sz="3000" dirty="0"/>
          </a:p>
        </p:txBody>
      </p:sp>
      <p:sp>
        <p:nvSpPr>
          <p:cNvPr id="9" name="Text 6"/>
          <p:cNvSpPr txBox="1"/>
          <p:nvPr/>
        </p:nvSpPr>
        <p:spPr>
          <a:xfrm>
            <a:off x="8366760" y="2130552"/>
            <a:ext cx="3108960" cy="594360"/>
          </a:xfrm>
          <a:prstGeom prst="rect">
            <a:avLst/>
          </a:prstGeom>
          <a:noFill/>
          <a:ln/>
        </p:spPr>
        <p:txBody>
          <a:bodyPr wrap="square" lIns="0" tIns="0" rIns="0" bIns="0" rtlCol="0" anchor="t"/>
          <a:lstStyle/>
          <a:p>
            <a:pPr indent="0" marL="0">
              <a:buNone/>
            </a:pPr>
            <a:r>
              <a:rPr lang="en-US" sz="1300" dirty="0">
                <a:solidFill>
                  <a:schemeClr val="accent6"/>
                </a:solidFill>
              </a:rPr>
              <a:t>자동 테스트 통과</a:t>
            </a:r>
            <a:endParaRPr lang="en-US" sz="1300" dirty="0"/>
          </a:p>
          <a:p>
            <a:pPr indent="0" marL="0">
              <a:buNone/>
            </a:pPr>
            <a:r>
              <a:rPr lang="en-US" sz="1300" dirty="0">
                <a:solidFill>
                  <a:schemeClr val="accent6"/>
                </a:solidFill>
              </a:rPr>
              <a:t>실패 0건</a:t>
            </a:r>
            <a:endParaRPr lang="en-US" sz="1300" dirty="0"/>
          </a:p>
        </p:txBody>
      </p:sp>
      <p:sp>
        <p:nvSpPr>
          <p:cNvPr id="10" name="stat"/>
          <p:cNvSpPr/>
          <p:nvPr/>
        </p:nvSpPr>
        <p:spPr>
          <a:xfrm>
            <a:off x="8138160" y="2926080"/>
            <a:ext cx="3474720" cy="1463040"/>
          </a:xfrm>
          <a:prstGeom prst="roundRect">
            <a:avLst>
              <a:gd name="adj" fmla="val 5000"/>
            </a:avLst>
          </a:prstGeom>
          <a:solidFill>
            <a:schemeClr val="bg2"/>
          </a:solidFill>
          <a:ln w="9525">
            <a:solidFill>
              <a:schemeClr val="bg2"/>
            </a:solidFill>
            <a:prstDash val="solid"/>
          </a:ln>
        </p:spPr>
      </p:sp>
      <p:sp>
        <p:nvSpPr>
          <p:cNvPr id="11" name="Text 8"/>
          <p:cNvSpPr txBox="1"/>
          <p:nvPr/>
        </p:nvSpPr>
        <p:spPr>
          <a:xfrm>
            <a:off x="8366760" y="3035808"/>
            <a:ext cx="3108960" cy="685800"/>
          </a:xfrm>
          <a:prstGeom prst="rect">
            <a:avLst/>
          </a:prstGeom>
          <a:noFill/>
          <a:ln/>
        </p:spPr>
        <p:txBody>
          <a:bodyPr wrap="square" lIns="0" tIns="0" rIns="0" bIns="0" rtlCol="0" anchor="ctr"/>
          <a:lstStyle/>
          <a:p>
            <a:pPr indent="0" marL="0">
              <a:buNone/>
            </a:pPr>
            <a:r>
              <a:rPr lang="en-US" sz="3000" b="1" dirty="0">
                <a:solidFill>
                  <a:schemeClr val="accent1"/>
                </a:solidFill>
              </a:rPr>
              <a:t>11.1초</a:t>
            </a:r>
            <a:endParaRPr lang="en-US" sz="3000" dirty="0"/>
          </a:p>
        </p:txBody>
      </p:sp>
      <p:sp>
        <p:nvSpPr>
          <p:cNvPr id="12" name="Text 9"/>
          <p:cNvSpPr txBox="1"/>
          <p:nvPr/>
        </p:nvSpPr>
        <p:spPr>
          <a:xfrm>
            <a:off x="8366760" y="3730752"/>
            <a:ext cx="3108960" cy="594360"/>
          </a:xfrm>
          <a:prstGeom prst="rect">
            <a:avLst/>
          </a:prstGeom>
          <a:noFill/>
          <a:ln/>
        </p:spPr>
        <p:txBody>
          <a:bodyPr wrap="square" lIns="0" tIns="0" rIns="0" bIns="0" rtlCol="0" anchor="t"/>
          <a:lstStyle/>
          <a:p>
            <a:pPr indent="0" marL="0">
              <a:buNone/>
            </a:pPr>
            <a:r>
              <a:rPr lang="en-US" sz="1300" dirty="0">
                <a:solidFill>
                  <a:schemeClr val="accent5"/>
                </a:solidFill>
              </a:rPr>
              <a:t>에이전트 평균 응답</a:t>
            </a:r>
            <a:endParaRPr lang="en-US" sz="1300" dirty="0"/>
          </a:p>
          <a:p>
            <a:pPr indent="0" marL="0">
              <a:buNone/>
            </a:pPr>
            <a:r>
              <a:rPr lang="en-US" sz="1300" dirty="0">
                <a:solidFill>
                  <a:schemeClr val="accent5"/>
                </a:solidFill>
              </a:rPr>
              <a:t>오류 0건 (100문항)</a:t>
            </a:r>
            <a:endParaRPr lang="en-US" sz="1300" dirty="0"/>
          </a:p>
        </p:txBody>
      </p:sp>
      <p:sp>
        <p:nvSpPr>
          <p:cNvPr id="13" name="stat"/>
          <p:cNvSpPr/>
          <p:nvPr/>
        </p:nvSpPr>
        <p:spPr>
          <a:xfrm>
            <a:off x="8138160" y="4526280"/>
            <a:ext cx="3474720" cy="1463040"/>
          </a:xfrm>
          <a:prstGeom prst="roundRect">
            <a:avLst>
              <a:gd name="adj" fmla="val 5000"/>
            </a:avLst>
          </a:prstGeom>
          <a:solidFill>
            <a:schemeClr val="bg2"/>
          </a:solidFill>
          <a:ln w="9525">
            <a:solidFill>
              <a:schemeClr val="bg2"/>
            </a:solidFill>
            <a:prstDash val="solid"/>
          </a:ln>
        </p:spPr>
      </p:sp>
      <p:sp>
        <p:nvSpPr>
          <p:cNvPr id="14" name="Text 11"/>
          <p:cNvSpPr txBox="1"/>
          <p:nvPr/>
        </p:nvSpPr>
        <p:spPr>
          <a:xfrm>
            <a:off x="8366760" y="4636008"/>
            <a:ext cx="3108960" cy="685800"/>
          </a:xfrm>
          <a:prstGeom prst="rect">
            <a:avLst/>
          </a:prstGeom>
          <a:noFill/>
          <a:ln/>
        </p:spPr>
        <p:txBody>
          <a:bodyPr wrap="square" lIns="0" tIns="0" rIns="0" bIns="0" rtlCol="0" anchor="ctr"/>
          <a:lstStyle/>
          <a:p>
            <a:pPr indent="0" marL="0">
              <a:buNone/>
            </a:pPr>
            <a:r>
              <a:rPr lang="en-US" sz="3000" b="1" dirty="0">
                <a:solidFill>
                  <a:schemeClr val="accent1"/>
                </a:solidFill>
              </a:rPr>
              <a:t>26건 · 8곳</a:t>
            </a:r>
            <a:endParaRPr lang="en-US" sz="3000" dirty="0"/>
          </a:p>
        </p:txBody>
      </p:sp>
      <p:sp>
        <p:nvSpPr>
          <p:cNvPr id="15" name="Text 12"/>
          <p:cNvSpPr txBox="1"/>
          <p:nvPr/>
        </p:nvSpPr>
        <p:spPr>
          <a:xfrm>
            <a:off x="8366760" y="5330952"/>
            <a:ext cx="3108960" cy="594360"/>
          </a:xfrm>
          <a:prstGeom prst="rect">
            <a:avLst/>
          </a:prstGeom>
          <a:noFill/>
          <a:ln/>
        </p:spPr>
        <p:txBody>
          <a:bodyPr wrap="square" lIns="0" tIns="0" rIns="0" bIns="0" rtlCol="0" anchor="t"/>
          <a:lstStyle/>
          <a:p>
            <a:pPr indent="0" marL="0">
              <a:buNone/>
            </a:pPr>
            <a:r>
              <a:rPr lang="en-US" sz="1300" dirty="0">
                <a:solidFill>
                  <a:schemeClr val="accent5"/>
                </a:solidFill>
              </a:rPr>
              <a:t>경남 지원사업 ·</a:t>
            </a:r>
            <a:endParaRPr lang="en-US" sz="1300" dirty="0"/>
          </a:p>
          <a:p>
            <a:pPr indent="0" marL="0">
              <a:buNone/>
            </a:pPr>
            <a:r>
              <a:rPr lang="en-US" sz="1300" dirty="0">
                <a:solidFill>
                  <a:schemeClr val="accent5"/>
                </a:solidFill>
              </a:rPr>
              <a:t>공식 상담 창구 (출처 포함)</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사용자는 무료, 비용은 기관이 낸다</a:t>
            </a:r>
            <a:endParaRPr lang="en-US" sz="3000" dirty="0"/>
          </a:p>
        </p:txBody>
      </p:sp>
      <p:sp>
        <p:nvSpPr>
          <p:cNvPr id="3" name="bm"/>
          <p:cNvSpPr/>
          <p:nvPr/>
        </p:nvSpPr>
        <p:spPr>
          <a:xfrm>
            <a:off x="548640" y="1325880"/>
            <a:ext cx="3566160" cy="2331720"/>
          </a:xfrm>
          <a:prstGeom prst="roundRect">
            <a:avLst>
              <a:gd name="adj" fmla="val 3137"/>
            </a:avLst>
          </a:prstGeom>
          <a:solidFill>
            <a:schemeClr val="bg2"/>
          </a:solidFill>
          <a:ln w="9525">
            <a:solidFill>
              <a:schemeClr val="bg2"/>
            </a:solidFill>
            <a:prstDash val="solid"/>
          </a:ln>
        </p:spPr>
      </p:sp>
      <p:sp>
        <p:nvSpPr>
          <p:cNvPr id="4" name="Shape 2"/>
          <p:cNvSpPr/>
          <p:nvPr/>
        </p:nvSpPr>
        <p:spPr>
          <a:xfrm>
            <a:off x="777240" y="1481328"/>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77240" y="1481328"/>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417320" y="1481328"/>
            <a:ext cx="2560320" cy="502920"/>
          </a:xfrm>
          <a:prstGeom prst="rect">
            <a:avLst/>
          </a:prstGeom>
          <a:noFill/>
          <a:ln/>
        </p:spPr>
        <p:txBody>
          <a:bodyPr wrap="square" lIns="0" tIns="0" rIns="0" bIns="0" rtlCol="0" anchor="ctr"/>
          <a:lstStyle/>
          <a:p>
            <a:pPr indent="0" marL="0">
              <a:buNone/>
            </a:pPr>
            <a:r>
              <a:rPr lang="en-US" sz="1800" b="1" dirty="0">
                <a:solidFill>
                  <a:schemeClr val="tx1"/>
                </a:solidFill>
              </a:rPr>
              <a:t>이용 대상</a:t>
            </a:r>
            <a:endParaRPr lang="en-US" sz="1800" dirty="0"/>
          </a:p>
        </p:txBody>
      </p:sp>
      <p:sp>
        <p:nvSpPr>
          <p:cNvPr id="7" name="Text 5"/>
          <p:cNvSpPr txBox="1"/>
          <p:nvPr/>
        </p:nvSpPr>
        <p:spPr>
          <a:xfrm>
            <a:off x="777240" y="2148840"/>
            <a:ext cx="3200400" cy="1463040"/>
          </a:xfrm>
          <a:prstGeom prst="rect">
            <a:avLst/>
          </a:prstGeom>
          <a:noFill/>
          <a:ln/>
        </p:spPr>
        <p:txBody>
          <a:bodyPr wrap="square" lIns="0" tIns="0" rIns="0" bIns="0" rtlCol="0" anchor="t"/>
          <a:lstStyle/>
          <a:p>
            <a:pPr marL="177800" indent="-177800">
              <a:spcAft>
                <a:spcPts val="300"/>
              </a:spcAft>
              <a:buSzPct val="100000"/>
              <a:buChar char="•"/>
            </a:pPr>
            <a:r>
              <a:rPr lang="en-US" sz="1450" dirty="0">
                <a:solidFill>
                  <a:srgbClr val="1B2B34"/>
                </a:solidFill>
              </a:rPr>
              <a:t>이주민과 가족 (한국인 배우자 포함)</a:t>
            </a:r>
            <a:endParaRPr lang="en-US" sz="1500" dirty="0"/>
          </a:p>
          <a:p>
            <a:pPr marL="177800" indent="-177800">
              <a:spcAft>
                <a:spcPts val="300"/>
              </a:spcAft>
              <a:buSzPct val="100000"/>
              <a:buChar char="•"/>
            </a:pPr>
            <a:r>
              <a:rPr lang="en-US" sz="1450" dirty="0">
                <a:solidFill>
                  <a:srgbClr val="1B2B34"/>
                </a:solidFill>
              </a:rPr>
              <a:t>외국인 고용 사업주 · 담당자</a:t>
            </a:r>
            <a:endParaRPr lang="en-US" sz="1500" dirty="0"/>
          </a:p>
          <a:p>
            <a:pPr marL="177800" indent="-177800">
              <a:spcAft>
                <a:spcPts val="300"/>
              </a:spcAft>
              <a:buSzPct val="100000"/>
              <a:buChar char="•"/>
            </a:pPr>
            <a:r>
              <a:rPr lang="en-US" sz="1450" dirty="0">
                <a:solidFill>
                  <a:srgbClr val="1B2B34"/>
                </a:solidFill>
              </a:rPr>
              <a:t>센터 · 지자체 상담 실무자</a:t>
            </a:r>
            <a:endParaRPr lang="en-US" sz="1500" dirty="0"/>
          </a:p>
        </p:txBody>
      </p:sp>
      <p:sp>
        <p:nvSpPr>
          <p:cNvPr id="8" name="bm"/>
          <p:cNvSpPr/>
          <p:nvPr/>
        </p:nvSpPr>
        <p:spPr>
          <a:xfrm>
            <a:off x="4297680" y="1325880"/>
            <a:ext cx="3566160" cy="2331720"/>
          </a:xfrm>
          <a:prstGeom prst="roundRect">
            <a:avLst>
              <a:gd name="adj" fmla="val 3137"/>
            </a:avLst>
          </a:prstGeom>
          <a:solidFill>
            <a:schemeClr val="bg2"/>
          </a:solidFill>
          <a:ln w="9525">
            <a:solidFill>
              <a:schemeClr val="bg2"/>
            </a:solidFill>
            <a:prstDash val="solid"/>
          </a:ln>
        </p:spPr>
      </p:sp>
      <p:sp>
        <p:nvSpPr>
          <p:cNvPr id="9" name="Shape 7"/>
          <p:cNvSpPr/>
          <p:nvPr/>
        </p:nvSpPr>
        <p:spPr>
          <a:xfrm>
            <a:off x="4526280" y="1481328"/>
            <a:ext cx="502920" cy="502920"/>
          </a:xfrm>
          <a:prstGeom prst="ellipse">
            <a:avLst/>
          </a:prstGeom>
          <a:solidFill>
            <a:schemeClr val="accent2"/>
          </a:solidFill>
          <a:ln w="12700">
            <a:solidFill>
              <a:schemeClr val="accent2"/>
            </a:solidFill>
            <a:prstDash val="solid"/>
          </a:ln>
        </p:spPr>
      </p:sp>
      <p:sp>
        <p:nvSpPr>
          <p:cNvPr id="10" name="Text 8"/>
          <p:cNvSpPr txBox="1"/>
          <p:nvPr/>
        </p:nvSpPr>
        <p:spPr>
          <a:xfrm>
            <a:off x="4526280" y="1481328"/>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9"/>
          <p:cNvSpPr txBox="1"/>
          <p:nvPr/>
        </p:nvSpPr>
        <p:spPr>
          <a:xfrm>
            <a:off x="5166360" y="1481328"/>
            <a:ext cx="2560320" cy="502920"/>
          </a:xfrm>
          <a:prstGeom prst="rect">
            <a:avLst/>
          </a:prstGeom>
          <a:noFill/>
          <a:ln/>
        </p:spPr>
        <p:txBody>
          <a:bodyPr wrap="square" lIns="0" tIns="0" rIns="0" bIns="0" rtlCol="0" anchor="ctr"/>
          <a:lstStyle/>
          <a:p>
            <a:pPr indent="0" marL="0">
              <a:buNone/>
            </a:pPr>
            <a:r>
              <a:rPr lang="en-US" sz="1800" b="1" dirty="0">
                <a:solidFill>
                  <a:schemeClr val="tx1"/>
                </a:solidFill>
              </a:rPr>
              <a:t>수익 구조</a:t>
            </a:r>
            <a:endParaRPr lang="en-US" sz="1800" dirty="0"/>
          </a:p>
        </p:txBody>
      </p:sp>
      <p:sp>
        <p:nvSpPr>
          <p:cNvPr id="12" name="Text 10"/>
          <p:cNvSpPr txBox="1"/>
          <p:nvPr/>
        </p:nvSpPr>
        <p:spPr>
          <a:xfrm>
            <a:off x="4526280" y="2148840"/>
            <a:ext cx="3200400" cy="1463040"/>
          </a:xfrm>
          <a:prstGeom prst="rect">
            <a:avLst/>
          </a:prstGeom>
          <a:noFill/>
          <a:ln/>
        </p:spPr>
        <p:txBody>
          <a:bodyPr wrap="square" lIns="0" tIns="0" rIns="0" bIns="0" anchor="t"/>
          <a:lstStyle/>
          <a:p>
            <a:pPr marL="177800" lvl="0" indent="-177800">
              <a:spcAft>
                <a:spcPts val="300"/>
              </a:spcAft>
              <a:buSzPct val="100000"/>
              <a:buChar char="•"/>
              <a:defRPr/>
            </a:pPr>
            <a:r>
              <a:rPr lang="en-US" sz="1450">
                <a:solidFill>
                  <a:srgbClr val="1b2b34"/>
                </a:solidFill>
              </a:rPr>
              <a:t>지자체 · 센터 위탁 운영</a:t>
            </a:r>
            <a:endParaRPr lang="en-US" sz="1450">
              <a:solidFill>
                <a:srgbClr val="1b2b34"/>
              </a:solidFill>
            </a:endParaRPr>
          </a:p>
          <a:p>
            <a:pPr marL="177800" lvl="0" indent="-177800">
              <a:spcAft>
                <a:spcPts val="300"/>
              </a:spcAft>
              <a:buSzPct val="100000"/>
              <a:buChar char="•"/>
              <a:defRPr/>
            </a:pPr>
            <a:r>
              <a:rPr lang="en-US" sz="1450">
                <a:solidFill>
                  <a:srgbClr val="1b2b34"/>
                </a:solidFill>
              </a:rPr>
              <a:t>사업장 정착 지원으로 이직 감소</a:t>
            </a:r>
            <a:endParaRPr lang="en-US" sz="1450">
              <a:solidFill>
                <a:srgbClr val="1b2b34"/>
              </a:solidFill>
            </a:endParaRPr>
          </a:p>
          <a:p>
            <a:pPr marL="177800" lvl="0" indent="-177800">
              <a:spcAft>
                <a:spcPts val="300"/>
              </a:spcAft>
              <a:buSzPct val="100000"/>
              <a:buChar char="•"/>
              <a:defRPr/>
            </a:pPr>
            <a:r>
              <a:rPr lang="en-US" sz="1450">
                <a:solidFill>
                  <a:srgbClr val="1b2b34"/>
                </a:solidFill>
              </a:rPr>
              <a:t>초기: 공모 · 정부 지원사업</a:t>
            </a:r>
            <a:endParaRPr lang="en-US" sz="1500"/>
          </a:p>
        </p:txBody>
      </p:sp>
      <p:sp>
        <p:nvSpPr>
          <p:cNvPr id="13" name="bm"/>
          <p:cNvSpPr/>
          <p:nvPr/>
        </p:nvSpPr>
        <p:spPr>
          <a:xfrm>
            <a:off x="8046720" y="1325880"/>
            <a:ext cx="3566160" cy="2331720"/>
          </a:xfrm>
          <a:prstGeom prst="roundRect">
            <a:avLst>
              <a:gd name="adj" fmla="val 3137"/>
            </a:avLst>
          </a:prstGeom>
          <a:solidFill>
            <a:schemeClr val="bg2"/>
          </a:solidFill>
          <a:ln w="9525">
            <a:solidFill>
              <a:schemeClr val="bg2"/>
            </a:solidFill>
            <a:prstDash val="solid"/>
          </a:ln>
        </p:spPr>
      </p:sp>
      <p:sp>
        <p:nvSpPr>
          <p:cNvPr id="14" name="Shape 12"/>
          <p:cNvSpPr/>
          <p:nvPr/>
        </p:nvSpPr>
        <p:spPr>
          <a:xfrm>
            <a:off x="8275320" y="1481328"/>
            <a:ext cx="502920" cy="502920"/>
          </a:xfrm>
          <a:prstGeom prst="ellipse">
            <a:avLst/>
          </a:prstGeom>
          <a:solidFill>
            <a:schemeClr val="accent1"/>
          </a:solidFill>
          <a:ln w="12700">
            <a:solidFill>
              <a:schemeClr val="accent1"/>
            </a:solidFill>
            <a:prstDash val="solid"/>
          </a:ln>
        </p:spPr>
      </p:sp>
      <p:sp>
        <p:nvSpPr>
          <p:cNvPr id="15" name="Text 13"/>
          <p:cNvSpPr txBox="1"/>
          <p:nvPr/>
        </p:nvSpPr>
        <p:spPr>
          <a:xfrm>
            <a:off x="8275320" y="1481328"/>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8915400" y="1481328"/>
            <a:ext cx="2560320" cy="502920"/>
          </a:xfrm>
          <a:prstGeom prst="rect">
            <a:avLst/>
          </a:prstGeom>
          <a:noFill/>
          <a:ln/>
        </p:spPr>
        <p:txBody>
          <a:bodyPr wrap="square" lIns="0" tIns="0" rIns="0" bIns="0" rtlCol="0" anchor="ctr"/>
          <a:lstStyle/>
          <a:p>
            <a:pPr indent="0" marL="0">
              <a:buNone/>
            </a:pPr>
            <a:r>
              <a:rPr lang="en-US" sz="1800" b="1" dirty="0">
                <a:solidFill>
                  <a:schemeClr val="tx1"/>
                </a:solidFill>
              </a:rPr>
              <a:t>운영 비용</a:t>
            </a:r>
            <a:endParaRPr lang="en-US" sz="1800" dirty="0"/>
          </a:p>
        </p:txBody>
      </p:sp>
      <p:sp>
        <p:nvSpPr>
          <p:cNvPr id="17" name="Text 15"/>
          <p:cNvSpPr txBox="1"/>
          <p:nvPr/>
        </p:nvSpPr>
        <p:spPr>
          <a:xfrm>
            <a:off x="8275320" y="2148840"/>
            <a:ext cx="3200400" cy="1463040"/>
          </a:xfrm>
          <a:prstGeom prst="rect">
            <a:avLst/>
          </a:prstGeom>
          <a:noFill/>
          <a:ln/>
        </p:spPr>
        <p:txBody>
          <a:bodyPr wrap="square" lIns="0" tIns="0" rIns="0" bIns="0" rtlCol="0" anchor="t"/>
          <a:lstStyle/>
          <a:p>
            <a:pPr marL="177800" indent="-177800">
              <a:spcAft>
                <a:spcPts val="300"/>
              </a:spcAft>
              <a:buSzPct val="100000"/>
              <a:buChar char="•"/>
            </a:pPr>
            <a:r>
              <a:rPr lang="en-US" sz="1450" dirty="0">
                <a:solidFill>
                  <a:srgbClr val="1B2B34"/>
                </a:solidFill>
              </a:rPr>
              <a:t>AI 사용료 (Claude API)</a:t>
            </a:r>
            <a:endParaRPr lang="en-US" sz="1500" dirty="0"/>
          </a:p>
          <a:p>
            <a:pPr marL="177800" indent="-177800">
              <a:spcAft>
                <a:spcPts val="300"/>
              </a:spcAft>
              <a:buSzPct val="100000"/>
              <a:buChar char="•"/>
            </a:pPr>
            <a:r>
              <a:rPr lang="en-US" sz="1450" dirty="0">
                <a:solidFill>
                  <a:srgbClr val="1B2B34"/>
                </a:solidFill>
              </a:rPr>
              <a:t>서버 운영</a:t>
            </a:r>
            <a:endParaRPr lang="en-US" sz="1500" dirty="0"/>
          </a:p>
          <a:p>
            <a:pPr marL="177800" indent="-177800">
              <a:spcAft>
                <a:spcPts val="300"/>
              </a:spcAft>
              <a:buSzPct val="100000"/>
              <a:buChar char="•"/>
            </a:pPr>
            <a:r>
              <a:rPr lang="en-US" sz="1450" dirty="0">
                <a:solidFill>
                  <a:srgbClr val="1B2B34"/>
                </a:solidFill>
              </a:rPr>
              <a:t>지원사업 정보 갱신</a:t>
            </a:r>
            <a:endParaRPr lang="en-US" sz="1500" dirty="0"/>
          </a:p>
        </p:txBody>
      </p:sp>
      <p:sp>
        <p:nvSpPr>
          <p:cNvPr id="18" name="Text 16"/>
          <p:cNvSpPr txBox="1"/>
          <p:nvPr/>
        </p:nvSpPr>
        <p:spPr>
          <a:xfrm>
            <a:off x="548640" y="3886200"/>
            <a:ext cx="3657600" cy="365760"/>
          </a:xfrm>
          <a:prstGeom prst="rect">
            <a:avLst/>
          </a:prstGeom>
          <a:noFill/>
          <a:ln/>
        </p:spPr>
        <p:txBody>
          <a:bodyPr wrap="square" lIns="0" tIns="0" rIns="0" bIns="0" rtlCol="0" anchor="t"/>
          <a:lstStyle/>
          <a:p>
            <a:pPr indent="0" marL="0">
              <a:buNone/>
            </a:pPr>
            <a:r>
              <a:rPr lang="en-US" sz="1600" b="1" dirty="0">
                <a:solidFill>
                  <a:schemeClr val="tx1"/>
                </a:solidFill>
              </a:rPr>
              <a:t>실행 계획</a:t>
            </a:r>
            <a:endParaRPr lang="en-US" sz="1600" dirty="0"/>
          </a:p>
        </p:txBody>
      </p:sp>
      <p:sp>
        <p:nvSpPr>
          <p:cNvPr id="19" name="phase"/>
          <p:cNvSpPr/>
          <p:nvPr/>
        </p:nvSpPr>
        <p:spPr>
          <a:xfrm>
            <a:off x="548640" y="4343400"/>
            <a:ext cx="3429000" cy="1691640"/>
          </a:xfrm>
          <a:prstGeom prst="roundRect">
            <a:avLst>
              <a:gd name="adj" fmla="val 4324"/>
            </a:avLst>
          </a:prstGeom>
          <a:solidFill>
            <a:schemeClr val="accent1"/>
          </a:solidFill>
          <a:ln w="9525">
            <a:solidFill>
              <a:schemeClr val="accent1"/>
            </a:solidFill>
            <a:prstDash val="solid"/>
          </a:ln>
        </p:spPr>
      </p:sp>
      <p:sp>
        <p:nvSpPr>
          <p:cNvPr id="20" name="Text 18"/>
          <p:cNvSpPr txBox="1"/>
          <p:nvPr/>
        </p:nvSpPr>
        <p:spPr>
          <a:xfrm>
            <a:off x="777240" y="4480560"/>
            <a:ext cx="3017520" cy="365760"/>
          </a:xfrm>
          <a:prstGeom prst="rect">
            <a:avLst/>
          </a:prstGeom>
          <a:noFill/>
          <a:ln/>
        </p:spPr>
        <p:txBody>
          <a:bodyPr wrap="square" lIns="0" tIns="0" rIns="0" bIns="0" rtlCol="0" anchor="t"/>
          <a:lstStyle/>
          <a:p>
            <a:pPr indent="0" marL="0">
              <a:buNone/>
            </a:pPr>
            <a:r>
              <a:rPr lang="en-US" sz="1600" b="1" dirty="0">
                <a:solidFill>
                  <a:schemeClr val="bg1"/>
                </a:solidFill>
              </a:rPr>
              <a:t>1단계 · 파일럿</a:t>
            </a:r>
            <a:endParaRPr lang="en-US" sz="1600" dirty="0"/>
          </a:p>
        </p:txBody>
      </p:sp>
      <p:sp>
        <p:nvSpPr>
          <p:cNvPr id="21" name="Text 19"/>
          <p:cNvSpPr txBox="1"/>
          <p:nvPr/>
        </p:nvSpPr>
        <p:spPr>
          <a:xfrm>
            <a:off x="777240" y="4919472"/>
            <a:ext cx="3017520" cy="1051560"/>
          </a:xfrm>
          <a:prstGeom prst="rect">
            <a:avLst/>
          </a:prstGeom>
          <a:noFill/>
          <a:ln/>
        </p:spPr>
        <p:txBody>
          <a:bodyPr wrap="square" lIns="0" tIns="0" rIns="0" bIns="0" rtlCol="0" anchor="t"/>
          <a:lstStyle/>
          <a:p>
            <a:pPr indent="0" marL="0">
              <a:buNone/>
            </a:pPr>
            <a:r>
              <a:rPr lang="en-US" sz="1450" dirty="0">
                <a:solidFill>
                  <a:schemeClr val="bg1"/>
                </a:solidFill>
              </a:rPr>
              <a:t>경남 외국인주민지원센터 1곳에서 상담 보조 도구로 시험 운영, 실사용자 피드백 수집</a:t>
            </a:r>
            <a:endParaRPr lang="en-US" sz="1450" dirty="0"/>
          </a:p>
        </p:txBody>
      </p:sp>
      <p:sp>
        <p:nvSpPr>
          <p:cNvPr id="22" name="Shape 20"/>
          <p:cNvSpPr/>
          <p:nvPr/>
        </p:nvSpPr>
        <p:spPr>
          <a:xfrm>
            <a:off x="4023360" y="5120640"/>
            <a:ext cx="228600" cy="274320"/>
          </a:xfrm>
          <a:prstGeom prst="rightArrow">
            <a:avLst/>
          </a:prstGeom>
          <a:solidFill>
            <a:schemeClr val="accent5"/>
          </a:solidFill>
          <a:ln w="12700">
            <a:solidFill>
              <a:schemeClr val="accent5"/>
            </a:solidFill>
            <a:prstDash val="solid"/>
          </a:ln>
        </p:spPr>
      </p:sp>
      <p:sp>
        <p:nvSpPr>
          <p:cNvPr id="23" name="phase"/>
          <p:cNvSpPr/>
          <p:nvPr/>
        </p:nvSpPr>
        <p:spPr>
          <a:xfrm>
            <a:off x="4297680" y="4343400"/>
            <a:ext cx="3429000" cy="1691640"/>
          </a:xfrm>
          <a:prstGeom prst="roundRect">
            <a:avLst>
              <a:gd name="adj" fmla="val 4324"/>
            </a:avLst>
          </a:prstGeom>
          <a:solidFill>
            <a:schemeClr val="accent3"/>
          </a:solidFill>
          <a:ln w="9525">
            <a:solidFill>
              <a:schemeClr val="accent3"/>
            </a:solidFill>
            <a:prstDash val="solid"/>
          </a:ln>
        </p:spPr>
      </p:sp>
      <p:sp>
        <p:nvSpPr>
          <p:cNvPr id="24" name="Text 22"/>
          <p:cNvSpPr txBox="1"/>
          <p:nvPr/>
        </p:nvSpPr>
        <p:spPr>
          <a:xfrm>
            <a:off x="4526280" y="4480560"/>
            <a:ext cx="3017520" cy="365760"/>
          </a:xfrm>
          <a:prstGeom prst="rect">
            <a:avLst/>
          </a:prstGeom>
          <a:noFill/>
          <a:ln/>
        </p:spPr>
        <p:txBody>
          <a:bodyPr wrap="square" lIns="0" tIns="0" rIns="0" bIns="0" rtlCol="0" anchor="t"/>
          <a:lstStyle/>
          <a:p>
            <a:pPr indent="0" marL="0">
              <a:buNone/>
            </a:pPr>
            <a:r>
              <a:rPr lang="en-US" sz="1600" b="1" dirty="0">
                <a:solidFill>
                  <a:schemeClr val="bg1"/>
                </a:solidFill>
              </a:rPr>
              <a:t>2단계 · 확대</a:t>
            </a:r>
            <a:endParaRPr lang="en-US" sz="1600" dirty="0"/>
          </a:p>
        </p:txBody>
      </p:sp>
      <p:sp>
        <p:nvSpPr>
          <p:cNvPr id="25" name="Text 23"/>
          <p:cNvSpPr txBox="1"/>
          <p:nvPr/>
        </p:nvSpPr>
        <p:spPr>
          <a:xfrm>
            <a:off x="4526280" y="4919472"/>
            <a:ext cx="3017520" cy="1051560"/>
          </a:xfrm>
          <a:prstGeom prst="rect">
            <a:avLst/>
          </a:prstGeom>
          <a:noFill/>
          <a:ln/>
        </p:spPr>
        <p:txBody>
          <a:bodyPr wrap="square" lIns="0" tIns="0" rIns="0" bIns="0" rtlCol="0" anchor="t"/>
          <a:lstStyle/>
          <a:p>
            <a:pPr indent="0" marL="0">
              <a:buNone/>
            </a:pPr>
            <a:r>
              <a:rPr lang="en-US" sz="1450" dirty="0">
                <a:solidFill>
                  <a:schemeClr val="bg1"/>
                </a:solidFill>
              </a:rPr>
              <a:t>Claude API 모드로 클라우드 배포, 경남 18개 시·군 지원사업 DB 완성</a:t>
            </a:r>
            <a:endParaRPr lang="en-US" sz="1450" dirty="0"/>
          </a:p>
        </p:txBody>
      </p:sp>
      <p:sp>
        <p:nvSpPr>
          <p:cNvPr id="26" name="Shape 24"/>
          <p:cNvSpPr/>
          <p:nvPr/>
        </p:nvSpPr>
        <p:spPr>
          <a:xfrm>
            <a:off x="7772400" y="5120640"/>
            <a:ext cx="228600" cy="274320"/>
          </a:xfrm>
          <a:prstGeom prst="rightArrow">
            <a:avLst/>
          </a:prstGeom>
          <a:solidFill>
            <a:schemeClr val="accent5"/>
          </a:solidFill>
          <a:ln w="12700">
            <a:solidFill>
              <a:schemeClr val="accent5"/>
            </a:solidFill>
            <a:prstDash val="solid"/>
          </a:ln>
        </p:spPr>
      </p:sp>
      <p:sp>
        <p:nvSpPr>
          <p:cNvPr id="27" name="phase"/>
          <p:cNvSpPr/>
          <p:nvPr/>
        </p:nvSpPr>
        <p:spPr>
          <a:xfrm>
            <a:off x="8046720" y="4343400"/>
            <a:ext cx="3429000" cy="1691640"/>
          </a:xfrm>
          <a:prstGeom prst="roundRect">
            <a:avLst>
              <a:gd name="adj" fmla="val 4324"/>
            </a:avLst>
          </a:prstGeom>
          <a:solidFill>
            <a:schemeClr val="accent2"/>
          </a:solidFill>
          <a:ln w="9525">
            <a:solidFill>
              <a:schemeClr val="accent2"/>
            </a:solidFill>
            <a:prstDash val="solid"/>
          </a:ln>
        </p:spPr>
      </p:sp>
      <p:sp>
        <p:nvSpPr>
          <p:cNvPr id="28" name="Text 26"/>
          <p:cNvSpPr txBox="1"/>
          <p:nvPr/>
        </p:nvSpPr>
        <p:spPr>
          <a:xfrm>
            <a:off x="8275320" y="4480560"/>
            <a:ext cx="3017520" cy="365760"/>
          </a:xfrm>
          <a:prstGeom prst="rect">
            <a:avLst/>
          </a:prstGeom>
          <a:noFill/>
          <a:ln/>
        </p:spPr>
        <p:txBody>
          <a:bodyPr wrap="square" lIns="0" tIns="0" rIns="0" bIns="0" rtlCol="0" anchor="t"/>
          <a:lstStyle/>
          <a:p>
            <a:pPr indent="0" marL="0">
              <a:buNone/>
            </a:pPr>
            <a:r>
              <a:rPr lang="en-US" sz="1600" b="1" dirty="0">
                <a:solidFill>
                  <a:schemeClr val="bg1"/>
                </a:solidFill>
              </a:rPr>
              <a:t>3단계 · 확장</a:t>
            </a:r>
            <a:endParaRPr lang="en-US" sz="1600" dirty="0"/>
          </a:p>
        </p:txBody>
      </p:sp>
      <p:sp>
        <p:nvSpPr>
          <p:cNvPr id="29" name="Text 27"/>
          <p:cNvSpPr txBox="1"/>
          <p:nvPr/>
        </p:nvSpPr>
        <p:spPr>
          <a:xfrm>
            <a:off x="8275320" y="4919472"/>
            <a:ext cx="3017520" cy="1051560"/>
          </a:xfrm>
          <a:prstGeom prst="rect">
            <a:avLst/>
          </a:prstGeom>
          <a:noFill/>
          <a:ln/>
        </p:spPr>
        <p:txBody>
          <a:bodyPr wrap="square" lIns="0" tIns="0" rIns="0" bIns="0" rtlCol="0" anchor="t"/>
          <a:lstStyle/>
          <a:p>
            <a:pPr indent="0" marL="0">
              <a:buNone/>
            </a:pPr>
            <a:r>
              <a:rPr lang="en-US" sz="1450" dirty="0">
                <a:solidFill>
                  <a:schemeClr val="bg1"/>
                </a:solidFill>
              </a:rPr>
              <a:t>데이터만 바꿔 내국인 정착(귀농·귀촌, 청년 전입)과 다른 시·도로</a:t>
            </a:r>
            <a:endParaRPr lang="en-US" sz="14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한계와 다음 단계</a:t>
            </a:r>
            <a:endParaRPr lang="en-US" sz="3000" dirty="0"/>
          </a:p>
        </p:txBody>
      </p:sp>
      <p:sp>
        <p:nvSpPr>
          <p:cNvPr id="3" name="Text 1"/>
          <p:cNvSpPr txBox="1"/>
          <p:nvPr/>
        </p:nvSpPr>
        <p:spPr>
          <a:xfrm>
            <a:off x="548640" y="1325880"/>
            <a:ext cx="4937760" cy="411480"/>
          </a:xfrm>
          <a:prstGeom prst="rect">
            <a:avLst/>
          </a:prstGeom>
          <a:noFill/>
          <a:ln/>
        </p:spPr>
        <p:txBody>
          <a:bodyPr wrap="square" lIns="0" tIns="0" rIns="0" bIns="0" rtlCol="0" anchor="t"/>
          <a:lstStyle/>
          <a:p>
            <a:pPr indent="0" marL="0">
              <a:buNone/>
            </a:pPr>
            <a:r>
              <a:rPr lang="en-US" sz="1800" b="1" dirty="0">
                <a:solidFill>
                  <a:schemeClr val="accent4"/>
                </a:solidFill>
              </a:rPr>
              <a:t>지금</a:t>
            </a:r>
            <a:endParaRPr lang="en-US" sz="1800" dirty="0"/>
          </a:p>
        </p:txBody>
      </p:sp>
      <p:sp>
        <p:nvSpPr>
          <p:cNvPr id="4" name="Text 2"/>
          <p:cNvSpPr txBox="1"/>
          <p:nvPr/>
        </p:nvSpPr>
        <p:spPr>
          <a:xfrm>
            <a:off x="6675120" y="1325880"/>
            <a:ext cx="4937760" cy="411480"/>
          </a:xfrm>
          <a:prstGeom prst="rect">
            <a:avLst/>
          </a:prstGeom>
          <a:noFill/>
          <a:ln/>
        </p:spPr>
        <p:txBody>
          <a:bodyPr wrap="square" lIns="0" tIns="0" rIns="0" bIns="0" rtlCol="0" anchor="t"/>
          <a:lstStyle/>
          <a:p>
            <a:pPr indent="0" marL="0">
              <a:buNone/>
            </a:pPr>
            <a:r>
              <a:rPr lang="en-US" sz="1800" b="1" dirty="0">
                <a:solidFill>
                  <a:schemeClr val="accent1"/>
                </a:solidFill>
              </a:rPr>
              <a:t>다음</a:t>
            </a:r>
            <a:endParaRPr lang="en-US" sz="1800" dirty="0"/>
          </a:p>
        </p:txBody>
      </p:sp>
      <p:sp>
        <p:nvSpPr>
          <p:cNvPr id="5" name="now"/>
          <p:cNvSpPr/>
          <p:nvPr/>
        </p:nvSpPr>
        <p:spPr>
          <a:xfrm>
            <a:off x="548640" y="1874520"/>
            <a:ext cx="5120640" cy="868680"/>
          </a:xfrm>
          <a:prstGeom prst="roundRect">
            <a:avLst>
              <a:gd name="adj" fmla="val 8421"/>
            </a:avLst>
          </a:prstGeom>
          <a:solidFill>
            <a:schemeClr val="bg2"/>
          </a:solidFill>
          <a:ln w="9525">
            <a:solidFill>
              <a:schemeClr val="bg2"/>
            </a:solidFill>
            <a:prstDash val="solid"/>
          </a:ln>
        </p:spPr>
      </p:sp>
      <p:sp>
        <p:nvSpPr>
          <p:cNvPr id="6" name="Text 4"/>
          <p:cNvSpPr txBox="1"/>
          <p:nvPr/>
        </p:nvSpPr>
        <p:spPr>
          <a:xfrm>
            <a:off x="777240" y="1874520"/>
            <a:ext cx="4754880" cy="868680"/>
          </a:xfrm>
          <a:prstGeom prst="rect">
            <a:avLst/>
          </a:prstGeom>
          <a:noFill/>
          <a:ln/>
        </p:spPr>
        <p:txBody>
          <a:bodyPr wrap="square" lIns="0" tIns="0" rIns="0" bIns="0" rtlCol="0" anchor="ctr"/>
          <a:lstStyle/>
          <a:p>
            <a:pPr indent="0" marL="0">
              <a:buNone/>
            </a:pPr>
            <a:r>
              <a:rPr lang="en-US" sz="1500" dirty="0">
                <a:solidFill>
                  <a:schemeClr val="tx1"/>
                </a:solidFill>
              </a:rPr>
              <a:t>경남 6개 지역, 지원사업 26건</a:t>
            </a:r>
            <a:endParaRPr lang="en-US" sz="1500" dirty="0"/>
          </a:p>
        </p:txBody>
      </p:sp>
      <p:sp>
        <p:nvSpPr>
          <p:cNvPr id="7" name="Shape 5"/>
          <p:cNvSpPr/>
          <p:nvPr/>
        </p:nvSpPr>
        <p:spPr>
          <a:xfrm>
            <a:off x="5852160" y="2148840"/>
            <a:ext cx="640080" cy="320040"/>
          </a:xfrm>
          <a:prstGeom prst="rightArrow">
            <a:avLst/>
          </a:prstGeom>
          <a:solidFill>
            <a:schemeClr val="accent2"/>
          </a:solidFill>
          <a:ln w="12700">
            <a:solidFill>
              <a:schemeClr val="accent2"/>
            </a:solidFill>
            <a:prstDash val="solid"/>
          </a:ln>
        </p:spPr>
      </p:sp>
      <p:sp>
        <p:nvSpPr>
          <p:cNvPr id="8" name="next"/>
          <p:cNvSpPr/>
          <p:nvPr/>
        </p:nvSpPr>
        <p:spPr>
          <a:xfrm>
            <a:off x="6675120" y="1874520"/>
            <a:ext cx="4937760" cy="868680"/>
          </a:xfrm>
          <a:prstGeom prst="roundRect">
            <a:avLst>
              <a:gd name="adj" fmla="val 8421"/>
            </a:avLst>
          </a:prstGeom>
          <a:solidFill>
            <a:schemeClr val="bg2"/>
          </a:solidFill>
          <a:ln w="9525">
            <a:solidFill>
              <a:schemeClr val="bg2"/>
            </a:solidFill>
            <a:prstDash val="solid"/>
          </a:ln>
        </p:spPr>
      </p:sp>
      <p:sp>
        <p:nvSpPr>
          <p:cNvPr id="9" name="Text 7"/>
          <p:cNvSpPr txBox="1"/>
          <p:nvPr/>
        </p:nvSpPr>
        <p:spPr>
          <a:xfrm>
            <a:off x="6903720" y="1874520"/>
            <a:ext cx="4572000" cy="868680"/>
          </a:xfrm>
          <a:prstGeom prst="rect">
            <a:avLst/>
          </a:prstGeom>
          <a:noFill/>
          <a:ln/>
        </p:spPr>
        <p:txBody>
          <a:bodyPr wrap="square" lIns="0" tIns="0" rIns="0" bIns="0" rtlCol="0" anchor="ctr"/>
          <a:lstStyle/>
          <a:p>
            <a:pPr indent="0" marL="0">
              <a:buNone/>
            </a:pPr>
            <a:r>
              <a:rPr lang="en-US" sz="1500" b="1" dirty="0">
                <a:solidFill>
                  <a:schemeClr val="tx1"/>
                </a:solidFill>
              </a:rPr>
              <a:t>18개 시·군 전체로 확대, 전화 확인으로 정확도 보강</a:t>
            </a:r>
            <a:endParaRPr lang="en-US" sz="1500" dirty="0"/>
          </a:p>
        </p:txBody>
      </p:sp>
      <p:sp>
        <p:nvSpPr>
          <p:cNvPr id="10" name="now"/>
          <p:cNvSpPr/>
          <p:nvPr/>
        </p:nvSpPr>
        <p:spPr>
          <a:xfrm>
            <a:off x="548640" y="2898648"/>
            <a:ext cx="5120640" cy="868680"/>
          </a:xfrm>
          <a:prstGeom prst="roundRect">
            <a:avLst>
              <a:gd name="adj" fmla="val 8421"/>
            </a:avLst>
          </a:prstGeom>
          <a:solidFill>
            <a:schemeClr val="bg2"/>
          </a:solidFill>
          <a:ln w="9525">
            <a:solidFill>
              <a:schemeClr val="bg2"/>
            </a:solidFill>
            <a:prstDash val="solid"/>
          </a:ln>
        </p:spPr>
      </p:sp>
      <p:sp>
        <p:nvSpPr>
          <p:cNvPr id="11" name="Text 9"/>
          <p:cNvSpPr txBox="1"/>
          <p:nvPr/>
        </p:nvSpPr>
        <p:spPr>
          <a:xfrm>
            <a:off x="777240" y="2898648"/>
            <a:ext cx="4754880" cy="868680"/>
          </a:xfrm>
          <a:prstGeom prst="rect">
            <a:avLst/>
          </a:prstGeom>
          <a:noFill/>
          <a:ln/>
        </p:spPr>
        <p:txBody>
          <a:bodyPr wrap="square" lIns="0" tIns="0" rIns="0" bIns="0" rtlCol="0" anchor="ctr"/>
          <a:lstStyle/>
          <a:p>
            <a:pPr indent="0" marL="0">
              <a:buNone/>
            </a:pPr>
            <a:r>
              <a:rPr lang="en-US" sz="1500" dirty="0">
                <a:solidFill>
                  <a:schemeClr val="tx1"/>
                </a:solidFill>
              </a:rPr>
              <a:t>내 PC에서 실행하는 MVP</a:t>
            </a:r>
            <a:endParaRPr lang="en-US" sz="1500" dirty="0"/>
          </a:p>
        </p:txBody>
      </p:sp>
      <p:sp>
        <p:nvSpPr>
          <p:cNvPr id="12" name="Shape 10"/>
          <p:cNvSpPr/>
          <p:nvPr/>
        </p:nvSpPr>
        <p:spPr>
          <a:xfrm>
            <a:off x="5852160" y="3172968"/>
            <a:ext cx="640080" cy="320040"/>
          </a:xfrm>
          <a:prstGeom prst="rightArrow">
            <a:avLst/>
          </a:prstGeom>
          <a:solidFill>
            <a:schemeClr val="accent2"/>
          </a:solidFill>
          <a:ln w="12700">
            <a:solidFill>
              <a:schemeClr val="accent2"/>
            </a:solidFill>
            <a:prstDash val="solid"/>
          </a:ln>
        </p:spPr>
      </p:sp>
      <p:sp>
        <p:nvSpPr>
          <p:cNvPr id="13" name="next"/>
          <p:cNvSpPr/>
          <p:nvPr/>
        </p:nvSpPr>
        <p:spPr>
          <a:xfrm>
            <a:off x="6675120" y="2898648"/>
            <a:ext cx="4937760" cy="868680"/>
          </a:xfrm>
          <a:prstGeom prst="roundRect">
            <a:avLst>
              <a:gd name="adj" fmla="val 8421"/>
            </a:avLst>
          </a:prstGeom>
          <a:solidFill>
            <a:schemeClr val="bg2"/>
          </a:solidFill>
          <a:ln w="9525">
            <a:solidFill>
              <a:schemeClr val="bg2"/>
            </a:solidFill>
            <a:prstDash val="solid"/>
          </a:ln>
        </p:spPr>
      </p:sp>
      <p:sp>
        <p:nvSpPr>
          <p:cNvPr id="14" name="Text 12"/>
          <p:cNvSpPr txBox="1"/>
          <p:nvPr/>
        </p:nvSpPr>
        <p:spPr>
          <a:xfrm>
            <a:off x="6903720" y="2898648"/>
            <a:ext cx="4572000" cy="868680"/>
          </a:xfrm>
          <a:prstGeom prst="rect">
            <a:avLst/>
          </a:prstGeom>
          <a:noFill/>
          <a:ln/>
        </p:spPr>
        <p:txBody>
          <a:bodyPr wrap="square" lIns="0" tIns="0" rIns="0" bIns="0" rtlCol="0" anchor="ctr"/>
          <a:lstStyle/>
          <a:p>
            <a:pPr indent="0" marL="0">
              <a:buNone/>
            </a:pPr>
            <a:r>
              <a:rPr lang="en-US" sz="1500" b="1" dirty="0">
                <a:solidFill>
                  <a:schemeClr val="tx1"/>
                </a:solidFill>
              </a:rPr>
              <a:t>이미 구현한 Claude API 모드로 클라우드 배포</a:t>
            </a:r>
            <a:endParaRPr lang="en-US" sz="1500" dirty="0"/>
          </a:p>
        </p:txBody>
      </p:sp>
      <p:sp>
        <p:nvSpPr>
          <p:cNvPr id="15" name="now"/>
          <p:cNvSpPr/>
          <p:nvPr/>
        </p:nvSpPr>
        <p:spPr>
          <a:xfrm>
            <a:off x="548640" y="3922776"/>
            <a:ext cx="5120640" cy="868680"/>
          </a:xfrm>
          <a:prstGeom prst="roundRect">
            <a:avLst>
              <a:gd name="adj" fmla="val 8421"/>
            </a:avLst>
          </a:prstGeom>
          <a:solidFill>
            <a:schemeClr val="bg2"/>
          </a:solidFill>
          <a:ln w="9525">
            <a:solidFill>
              <a:schemeClr val="bg2"/>
            </a:solidFill>
            <a:prstDash val="solid"/>
          </a:ln>
        </p:spPr>
      </p:sp>
      <p:sp>
        <p:nvSpPr>
          <p:cNvPr id="16" name="Text 14"/>
          <p:cNvSpPr txBox="1"/>
          <p:nvPr/>
        </p:nvSpPr>
        <p:spPr>
          <a:xfrm>
            <a:off x="777240" y="3922776"/>
            <a:ext cx="4754880" cy="868680"/>
          </a:xfrm>
          <a:prstGeom prst="rect">
            <a:avLst/>
          </a:prstGeom>
          <a:noFill/>
          <a:ln/>
        </p:spPr>
        <p:txBody>
          <a:bodyPr wrap="square" lIns="0" tIns="0" rIns="0" bIns="0" rtlCol="0" anchor="ctr"/>
          <a:lstStyle/>
          <a:p>
            <a:pPr indent="0" marL="0">
              <a:buNone/>
            </a:pPr>
            <a:r>
              <a:rPr lang="en-US" sz="1500" dirty="0">
                <a:solidFill>
                  <a:schemeClr val="tx1"/>
                </a:solidFill>
              </a:rPr>
              <a:t>로드맵 한 턴 20.3초 (목표 10초)</a:t>
            </a:r>
            <a:endParaRPr lang="en-US" sz="1500" dirty="0"/>
          </a:p>
        </p:txBody>
      </p:sp>
      <p:sp>
        <p:nvSpPr>
          <p:cNvPr id="17" name="Shape 15"/>
          <p:cNvSpPr/>
          <p:nvPr/>
        </p:nvSpPr>
        <p:spPr>
          <a:xfrm>
            <a:off x="5852160" y="4197096"/>
            <a:ext cx="640080" cy="320040"/>
          </a:xfrm>
          <a:prstGeom prst="rightArrow">
            <a:avLst/>
          </a:prstGeom>
          <a:solidFill>
            <a:schemeClr val="accent2"/>
          </a:solidFill>
          <a:ln w="12700">
            <a:solidFill>
              <a:schemeClr val="accent2"/>
            </a:solidFill>
            <a:prstDash val="solid"/>
          </a:ln>
        </p:spPr>
      </p:sp>
      <p:sp>
        <p:nvSpPr>
          <p:cNvPr id="18" name="next"/>
          <p:cNvSpPr/>
          <p:nvPr/>
        </p:nvSpPr>
        <p:spPr>
          <a:xfrm>
            <a:off x="6675120" y="3922776"/>
            <a:ext cx="4937760" cy="868680"/>
          </a:xfrm>
          <a:prstGeom prst="roundRect">
            <a:avLst>
              <a:gd name="adj" fmla="val 8421"/>
            </a:avLst>
          </a:prstGeom>
          <a:solidFill>
            <a:schemeClr val="bg2"/>
          </a:solidFill>
          <a:ln w="9525">
            <a:solidFill>
              <a:schemeClr val="bg2"/>
            </a:solidFill>
            <a:prstDash val="solid"/>
          </a:ln>
        </p:spPr>
      </p:sp>
      <p:sp>
        <p:nvSpPr>
          <p:cNvPr id="19" name="Text 17"/>
          <p:cNvSpPr txBox="1"/>
          <p:nvPr/>
        </p:nvSpPr>
        <p:spPr>
          <a:xfrm>
            <a:off x="6903720" y="3922776"/>
            <a:ext cx="4572000" cy="868680"/>
          </a:xfrm>
          <a:prstGeom prst="rect">
            <a:avLst/>
          </a:prstGeom>
          <a:noFill/>
          <a:ln/>
        </p:spPr>
        <p:txBody>
          <a:bodyPr wrap="square" lIns="0" tIns="0" rIns="0" bIns="0" rtlCol="0" anchor="ctr"/>
          <a:lstStyle/>
          <a:p>
            <a:pPr indent="0" marL="0">
              <a:buNone/>
            </a:pPr>
            <a:r>
              <a:rPr lang="en-US" sz="1500" b="1" dirty="0">
                <a:solidFill>
                  <a:schemeClr val="tx1"/>
                </a:solidFill>
              </a:rPr>
              <a:t>도구 동시 호출, 진행 과정을 화면에 바로 표시</a:t>
            </a:r>
            <a:endParaRPr lang="en-US" sz="1500" dirty="0"/>
          </a:p>
        </p:txBody>
      </p:sp>
      <p:sp>
        <p:nvSpPr>
          <p:cNvPr id="20" name="now"/>
          <p:cNvSpPr/>
          <p:nvPr/>
        </p:nvSpPr>
        <p:spPr>
          <a:xfrm>
            <a:off x="548640" y="4946904"/>
            <a:ext cx="5120640" cy="868680"/>
          </a:xfrm>
          <a:prstGeom prst="roundRect">
            <a:avLst>
              <a:gd name="adj" fmla="val 8421"/>
            </a:avLst>
          </a:prstGeom>
          <a:solidFill>
            <a:schemeClr val="bg2"/>
          </a:solidFill>
          <a:ln w="9525">
            <a:solidFill>
              <a:schemeClr val="bg2"/>
            </a:solidFill>
            <a:prstDash val="solid"/>
          </a:ln>
        </p:spPr>
      </p:sp>
      <p:sp>
        <p:nvSpPr>
          <p:cNvPr id="21" name="Text 19"/>
          <p:cNvSpPr txBox="1"/>
          <p:nvPr/>
        </p:nvSpPr>
        <p:spPr>
          <a:xfrm>
            <a:off x="777240" y="4946904"/>
            <a:ext cx="4754880" cy="868680"/>
          </a:xfrm>
          <a:prstGeom prst="rect">
            <a:avLst/>
          </a:prstGeom>
          <a:noFill/>
          <a:ln/>
        </p:spPr>
        <p:txBody>
          <a:bodyPr wrap="square" lIns="0" tIns="0" rIns="0" bIns="0" rtlCol="0" anchor="ctr"/>
          <a:lstStyle/>
          <a:p>
            <a:pPr indent="0" marL="0">
              <a:buNone/>
            </a:pPr>
            <a:r>
              <a:rPr lang="en-US" sz="1500" dirty="0">
                <a:solidFill>
                  <a:schemeClr val="tx1"/>
                </a:solidFill>
              </a:rPr>
              <a:t>평가 문장 100개 (프롬프트 개선에 사용)</a:t>
            </a:r>
            <a:endParaRPr lang="en-US" sz="1500" dirty="0"/>
          </a:p>
        </p:txBody>
      </p:sp>
      <p:sp>
        <p:nvSpPr>
          <p:cNvPr id="22" name="Shape 20"/>
          <p:cNvSpPr/>
          <p:nvPr/>
        </p:nvSpPr>
        <p:spPr>
          <a:xfrm>
            <a:off x="5852160" y="5221224"/>
            <a:ext cx="640080" cy="320040"/>
          </a:xfrm>
          <a:prstGeom prst="rightArrow">
            <a:avLst/>
          </a:prstGeom>
          <a:solidFill>
            <a:schemeClr val="accent2"/>
          </a:solidFill>
          <a:ln w="12700">
            <a:solidFill>
              <a:schemeClr val="accent2"/>
            </a:solidFill>
            <a:prstDash val="solid"/>
          </a:ln>
        </p:spPr>
      </p:sp>
      <p:sp>
        <p:nvSpPr>
          <p:cNvPr id="23" name="next"/>
          <p:cNvSpPr/>
          <p:nvPr/>
        </p:nvSpPr>
        <p:spPr>
          <a:xfrm>
            <a:off x="6675120" y="4946904"/>
            <a:ext cx="4937760" cy="868680"/>
          </a:xfrm>
          <a:prstGeom prst="roundRect">
            <a:avLst>
              <a:gd name="adj" fmla="val 8421"/>
            </a:avLst>
          </a:prstGeom>
          <a:solidFill>
            <a:schemeClr val="bg2"/>
          </a:solidFill>
          <a:ln w="9525">
            <a:solidFill>
              <a:schemeClr val="bg2"/>
            </a:solidFill>
            <a:prstDash val="solid"/>
          </a:ln>
        </p:spPr>
      </p:sp>
      <p:sp>
        <p:nvSpPr>
          <p:cNvPr id="24" name="Text 22"/>
          <p:cNvSpPr txBox="1"/>
          <p:nvPr/>
        </p:nvSpPr>
        <p:spPr>
          <a:xfrm>
            <a:off x="6903720" y="4946904"/>
            <a:ext cx="4572000" cy="868680"/>
          </a:xfrm>
          <a:prstGeom prst="rect">
            <a:avLst/>
          </a:prstGeom>
          <a:noFill/>
          <a:ln/>
        </p:spPr>
        <p:txBody>
          <a:bodyPr wrap="square" lIns="0" tIns="0" rIns="0" bIns="0" rtlCol="0" anchor="ctr"/>
          <a:lstStyle/>
          <a:p>
            <a:pPr indent="0" marL="0">
              <a:buNone/>
            </a:pPr>
            <a:r>
              <a:rPr lang="en-US" sz="1500" b="1" dirty="0">
                <a:solidFill>
                  <a:schemeClr val="tx1"/>
                </a:solidFill>
              </a:rPr>
              <a:t>처음 보는 999문항 블라인드 측정, 실제 이주민 사용자 검증</a:t>
            </a:r>
            <a:endParaRPr lang="en-US" sz="1500" dirty="0"/>
          </a:p>
        </p:txBody>
      </p:sp>
      <p:sp>
        <p:nvSpPr>
          <p:cNvPr id="25" name="Text 23"/>
          <p:cNvSpPr txBox="1"/>
          <p:nvPr/>
        </p:nvSpPr>
        <p:spPr>
          <a:xfrm>
            <a:off x="548640" y="6035040"/>
            <a:ext cx="11064240" cy="365760"/>
          </a:xfrm>
          <a:prstGeom prst="rect">
            <a:avLst/>
          </a:prstGeom>
          <a:noFill/>
          <a:ln/>
        </p:spPr>
        <p:txBody>
          <a:bodyPr wrap="square" lIns="0" tIns="0" rIns="0" bIns="0" rtlCol="0" anchor="t"/>
          <a:lstStyle/>
          <a:p>
            <a:pPr algn="r" indent="0" marL="0">
              <a:buNone/>
            </a:pPr>
            <a:r>
              <a:rPr lang="en-US" sz="1600" b="1" dirty="0">
                <a:solidFill>
                  <a:schemeClr val="accent1"/>
                </a:solidFill>
              </a:rPr>
              <a:t>감사합니다</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duo">
  <a:themeElements>
    <a:clrScheme name="duo">
      <a:dk1>
        <a:srgbClr val="1b2b34"/>
      </a:dk1>
      <a:lt1>
        <a:srgbClr val="ffffff"/>
      </a:lt1>
      <a:dk2>
        <a:srgbClr val="0e5e6f"/>
      </a:dk2>
      <a:lt2>
        <a:srgbClr val="eaf2f3"/>
      </a:lt2>
      <a:accent1>
        <a:srgbClr val="0e5e6f"/>
      </a:accent1>
      <a:accent2>
        <a:srgbClr val="e69a2e"/>
      </a:accent2>
      <a:accent3>
        <a:srgbClr val="3a8d8c"/>
      </a:accent3>
      <a:accent4>
        <a:srgbClr val="c0483a"/>
      </a:accent4>
      <a:accent5>
        <a:srgbClr val="6b7b88"/>
      </a:accent5>
      <a:accent6>
        <a:srgbClr val="b9d3d6"/>
      </a:accent6>
      <a:hlink>
        <a:srgbClr val="0e5e6f"/>
      </a:hlink>
      <a:folHlink>
        <a:srgbClr val="3a8d8c"/>
      </a:folHlink>
    </a:clrScheme>
    <a:fontScheme name="duo">
      <a:majorFont>
        <a:latin typeface="Malgun Gothic"/>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4a45ff"/>
      </a:hlink>
      <a:folHlink>
        <a:srgbClr val="be27bb"/>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PptxGenJS</ep:Company>
  <ep:Words>732</ep:Words>
  <ep:PresentationFormat>On-screen Show (16:9)</ep:PresentationFormat>
  <ep:Paragraphs>186</ep:Paragraphs>
  <ep:Slides>10</ep:Slides>
  <ep:Notes>10</ep:Notes>
  <ep:TotalTime>0</ep:TotalTime>
  <ep:HiddenSlides>0</ep:HiddenSlides>
  <ep:MMClips>0</ep:MMClips>
  <ep:HeadingPairs>
    <vt:vector size="4" baseType="variant">
      <vt:variant>
        <vt:lpstr>테마</vt:lpstr>
      </vt:variant>
      <vt:variant>
        <vt:i4>1</vt:i4>
      </vt:variant>
      <vt:variant>
        <vt:lpstr>슬라이드 제목</vt:lpstr>
      </vt:variant>
      <vt:variant>
        <vt:i4>10</vt:i4>
      </vt:variant>
    </vt:vector>
  </ep:HeadingPairs>
  <ep:TitlesOfParts>
    <vt:vector size="11" baseType="lpstr">
      <vt:lpstr>duo</vt:lpstr>
      <vt:lpstr>경남 정착 도우미</vt:lpstr>
      <vt:lpstr>경남 이주민 16만 명, 도움은 있는데 닿지 않는다</vt:lpstr>
      <vt:lpstr>말하면 판단하고, 다음 행동까지 이어 준다</vt:lpstr>
      <vt:lpstr>판단은 AI, 계산은 코드</vt:lpstr>
      <vt:lpstr>정보가 바뀌면, 코드가 다시 계산한다</vt:lpstr>
      <vt:lpstr>시연: 첫 대화부터 재방문까지</vt:lpstr>
      <vt:lpstr>급한 상황은 창구 먼저, 개인정보는 받지 않는다</vt:lpstr>
      <vt:lpstr>100문장 중 99개, 자동 테스트 89건 통과</vt:lpstr>
      <vt:lpstr>사용자는 무료, 비용은 기관이 낸다</vt:lpstr>
      <vt:lpstr>한계와 다음 단계</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2026-10-10T16:11:42.000</dcterms:created>
  <dc:creator>팀 duo (창신대학교)</dc:creator>
  <cp:lastModifiedBy>User</cp:lastModifiedBy>
  <dcterms:modified xsi:type="dcterms:W3CDTF">2026-10-10T17:05:46.025</dcterms:modified>
  <cp:revision>4</cp:revision>
  <dc:subject>PptxGenJS Presentation</dc:subject>
  <dc:title>경남 정착 도우미 — 본선 발표 (보완)</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